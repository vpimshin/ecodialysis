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water vulnerability framing. Adaptation first, mitigation second. Dialysis is the wedge into hospital water resilience.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agenda as a six-step asset. Each step maps to a revenue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scarcity, regulation, tariffs, continuity. Carbon is co-benefit. Cite Décret 2024-796.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reasons dialysis is the entry point. Sixth card = expansion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one-session flow. Three streams: green (reject), orange (rinse), red (spent dialysate).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Measurement-first principle from SFNDT.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meters, plus conductivity, pressure, energy. Measurement is the moat.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scenarios, hospital can verify itself. Carbon is secondary co-benefit.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map. Boundary is non-negotiable.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Décret 2024-796 is the unlock. EcoDialysis turns it into a repeatable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dossier contents. Show technical + governance stacks.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playbook over generic product. Six variables → tailored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cards = international proof. Detail in cluster slides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UK cluster shows reuse + heat recovery patterns; France-specific layer is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ANZSN aggregated savings + measured RO replacement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optimization levers, all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Saint-Exupéry is the French anchor. SFNDT 2026 = the playbook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Tank vs dossier engine. Contrast is the positioning.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product layers map to five revenue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Supplier landscape compressed. Full detail in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Maturity matrix is the credibility slide. Boundary at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revenue lines, four channels, three compounding forces.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buyer types, each with wedge +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pilots = three different validations: feasibility, repeatability,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asks. No clinical data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30-day audit clock. Concrete deliverables.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Refusal list is the trust moat. Maps to claim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 set covers ops, dossier,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 register, eight rows. Full register in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moats, one slogan.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Five-phase expansion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Slogan.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A1: full source 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A2: chip 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A3: 18 DR-Water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A4: 12 DR-France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A5: 15 DR-Tech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A6: SFNDT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A7: SFNDT 2026 long, 20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A8: EICH stakeholder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A9: macro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A10: equipment ecosystem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A11: supplier landscape.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A12: financials, sensitivities, decision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A13: full 18-row maturity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A14: risk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A15: implementation calendar.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A16: claim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anchors live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E6F0FB"/>
                </a:solidFill>
              </a:rPr>
              <a:t>Dialysis has a hidden water vulnerability.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6F0FB"/>
                </a:solidFill>
              </a:rPr>
              <a:t>EcoDialysis · ANDCS × MIT Hacking Medicine · Paris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Strategic agenda — from hidden waste to certified water resilience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0A2A55"/>
                </a:solidFill>
              </a:rPr>
              <a:t>Six moves. Each one is also an EcoDialysis revenue line.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1 · See the problem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Make a hospital's hidden dialysis water flow visible at session level.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2 · Choose the right reuse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Green / orange / red map of every non-clinical reuse route.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3 · File the dossier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EICH-compliant ARS / préfecture safety case per site.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4 · Implement &amp; meter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4-point metering, separated network, anti-backflow, carnet sanitaire.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5 · Verify savings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SaaS dashboard, monthly verification, KPI proofs to ARS and finance.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6 · Certify &amp; scale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EcoDialysis label → GHT / private-network rollout → European expansion.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Adaptation first, mitigation second. [Pch] [S26] [Gov]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 / 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Why water, why now — hospitals enter a water-constrained decade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The new operating reality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Scarcity: France basins facing structural deficit (Loire, Adour-Garonne, PACA).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Regulation: Décret n°2024-796 (12 July 2024, in force 1 Sept 2024) opens non-clinical reuse pathway.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Tariffs: water + sewer indexation hitting hospital opex; sewer often &gt; potable.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Continuity: droughts and restrictions threaten technical functions in summer.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Reporting: Planification écologique du système de santé requires per-establishment water plans. [Gov] [TSP] [Ird]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Why hospitals can't wait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Healthcare = &gt;8% of national GHG, ~50 MtCO₂e (offer of care 45%, products 55%). [Gov] [HCW]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Care offer = buildings, energy, water, waste, transport.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Dialysis is the most water-intensive recurring hospital workflow.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Water adaptation pays back in opex before carbon counts.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1 · 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 / 53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Why dialysis is the right first hospital department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Measurable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Closed technical loop. Every session has a known feedwater, reject volume, energy draw. ~400–500 L feedwater, 50–70% reject. [Per] [Gem] [Ope]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Recurring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~156 sessions / patient / year. 100-patient center = 15,600 sessions / yr. Predictable savings.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Technically actionable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RO reject = controlled technical stream, not patient wastewater. Reuse routes already proven internationally. [Ope] [Gem]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Clinically bounded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No patient contact reuse. Never back to dialysis-water production. Never spent dialysate. Boundary is the wedge of trust.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Policy-aligned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SFNDT Guide des bonnes pratiques 2026 explicitly covers RO-reject reuse. [S26] [S23]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Strategic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Win dialysis first → expand to sterilization, laundry, kitchens, technical loops.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1 · 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 / 53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What exactly is wasted — the dialysis water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One session, simplified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The hidden three streams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RO concentrate (reject): clean, low-salt, controlled. Highest reuse value.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Disinfection &amp; rinse water: intermittent, contains residual chemicals — reuse only after dilution / neutralization.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Spent dialysate: patient-contact — never reused. RED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Hidden energy too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Older Australian RO: 548 L + 7.2 kWh / treatment. Modern RO: 357 L + 3.1 kWh. [Ope]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East Kent heat exchangers: 0.86 kWh/treatment recoverable, 27,905 kWh/yr projected. [Ope]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1 · 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5 / 53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FFFFFF"/>
                </a:solidFill>
              </a:rPr>
              <a:t>Part 2 — Measurement &amp; Reuse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6F0FB"/>
                </a:solidFill>
              </a:rPr>
              <a:t>If you cannot measure the water, you cannot redesign it. If you cannot redesign it, you cannot certify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6F0FB"/>
                </a:solidFill>
              </a:rPr>
              <a:t>EcoDialysis · ANDCS × MIT Hacking Medicine · Paris 2026    ·    Part 2    ·    6 / 53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How the water is measured — 4-point metering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The four meters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M1 · Mains-in — total feedwater entering the dialysis water plant.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M2 · RO permeate — water actually delivered to dialysate loop.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M3 · RO reject — controlled technical stream candidate for reuse.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M4 · Reuse delivery — water actually substituted in toilets / cooling / cleaning.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Plus context channels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Conductivity on M3 → routing logic (high salt → drain, low salt → reuse). [Gem]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Pressure + flow on reuse loop → leak and stagnation detection.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Energy submeter on RO + heat-exchanger (optional).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Time-stamped to session log → L/session benchmark.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Why measurement-first wins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SFNDT 2023 and SFNDT 2026 both place measurement-first at the heart of green nephrology. [S23] [S26]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TSP Pathway methodology: objective, perimeter, transparent assumptions, uncertainty studies. [TSP]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No measurement → no ARS dossier, no CEE, no savings claim.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From meter to evidence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Baseline 4–6 weeks before any intervention.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Continuous logging post-intervention.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Monthly verification report to direction, technique, hygiene.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Quarterly KPI bundle to ARS &amp; finance.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2 · Measurement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7 / 53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Reference center model — 100 patients, 15,600 sessions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0A2A55"/>
                </a:solidFill>
              </a:rPr>
              <a:t>A standard mid-size French in-center / UDM unit. The math hospitals can verify against their own bills. [Per]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Low scenario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220 L reject / session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3,432 m³ / yr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Modern RO, optimized disinfection.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Central scenario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270 L reject / session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4,212 m³ / yr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Typical mid-life equipment.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High scenario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320 L reject / session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4,992 m³ / yr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Aging RO + 3×/week schedule. [Ope]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Water-only carbon caveat: ~1.0–1.1 tCO₂e / yr for the 4,200 m³ band — secondary to opex resilience. [Per] [TSP]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2 · Reference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8 / 53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What can be reused — the green / orange / red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GREEN — reuse now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Toilet flushing in non-clinical zones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Floor &amp; outdoor cleaning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HVAC cooling-tower make-up (with treatment)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Garden / outdoor watering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Technical washing (carts, bins)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Evidence: Canterbury, Bristol, Ashford, ANZSN. [Ope] [Gem]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ORANGE — site-specific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Laundry pre-wash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Sterilization feed (non-final-rinse)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Boiler / cooling make-up with extra polishing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Pretreatment recycle (recovery RO) — vendor-specific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Disinfection rinse reuse — only after neutralization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Caveat: requires dossier, local water quality, vendor sign-off.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RED — never reuse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Spent dialysate (patient contact)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Any return to dialysis-water production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Drinking / food-prep water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Patient-contact equipment final rinse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Endoscope / surgical-instrument final rinse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Non-negotiable. The safety boundary is the wedge of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2 · Reuse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9 / 53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Current law vs new EICH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Before — pre 1 Sept 2024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No general non-potable reuse framework in healthcare.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Ad-hoc derogations from ARS / DDETSPP.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Reuse projects stalled in legal uncertainty.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After — Décret n°2024-796, in force 1 Sept 2024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EICH = Eaux Impropres à la Consommation Humaine (non-potable waters) framework for sensitive establishments including healthcare. [Gov] [S26]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Permits non-clinical reuse with site-specific authorization.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Requires ARS / préfecture safety case.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Separate network, anti-backflow, signage, carnet sanitaire.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Monitoring &amp; emergency stop required.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Defines authorized uses, not a blanket licence.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What EICH does NOT do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Does not authorize any patient-contact reuse.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Does not pre-approve any site — every dossier is local.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Does not waive hygiene committee (CLIN) sign-off.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Does not guarantee tariff savings — local sewer / potable structure decides.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Caveat: exact ARS pathway and monitoring frequency vary by basin and establishment type. Confirm at each filing. See Appendix H. [Gov]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2 · Regulation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10 / 53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What an ARS / préfecture dossier must contain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Mandatory technical content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Source description: RO reject characterization (conductivity, microbio, chemicals).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Use description: target uses, volumes, locations.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Separated network: schematic, materials, anti-backflow devices (EA / EB / AA).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Storage: volume, residence time, materials, anti-stagnation logic.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Treatment if any: UV-C, filtration, disinfection.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Monitoring plan: parameters, frequency, alarms.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Emergency stop &amp; fallback to potable.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Carnet sanitaire entry and responsibilities.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Mandatory governance content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Risk analysis (HACCP-like) per use.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Sign-off chain: direction, technique, hygiène (CLIN), médical, qualité.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Staff training plan + signage program.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Maintenance plan + service contracts.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Annual review &amp; reporting to ARS.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Stakeholder map (ARS, préfecture, Agence de l'Eau, hygiène).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Sources: [Gov] [S26] [S23]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2 · Dossier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11 / 53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Why every site needs a tailored playbook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0A2A55"/>
                </a:solidFill>
              </a:rPr>
              <a:t>A site-specific playbook is not optional. The same RO reject does not have the same destiny in every hospital.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What varies by site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Water quality: mains hardness, chloride, silica — drives reuse polishing need.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Tariff structure: water + sewer per m³ — drives ROI.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Layout: dialysis unit floor, toilets distance, technical loops accessibility — drives CAPEX.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RO age: determines reject volume (220–320 L).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Demand profile: session schedule vs reuse-point demand — drives storage sizing.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Governance: CHU vs CH vs private — drives sign-off path.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Why a generic tank fails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Wrong size → either overflow or starvation.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Wrong polishing → biofilm or chemistry mismatch.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Wrong network → backflow risk, ARS rejection.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Wrong demand match → empty &lt;30% of the time.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Wrong reporting → no ROI verification, no certification.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Hospitals do not need another ESG dashboard. They need an operational water-resilience playbook.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2 · Tailored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12 / 53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FFFFFF"/>
                </a:solidFill>
              </a:rPr>
              <a:t>Part 3 —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6F0FB"/>
                </a:solidFill>
              </a:rPr>
              <a:t>International centers already prove that reuse and optimization work. The hard part is not the tank — it is the repeatable site-specific dossier.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6F0FB"/>
                </a:solidFill>
              </a:rPr>
              <a:t>EcoDialysis · ANDCS × MIT Hacking Medicine · Paris 2026    ·    Part 3    ·    13 / 53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International proof — eight reference centers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Canterbury · UK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800 L/h RO-reject recovery, ~£7,500/yr. [Ope]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Bristol · UK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13,140 m³/yr, &gt;£15,000/yr. [Ope]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Ashford · UK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Design-in route at ~£2,500. [Ope]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East Kent · UK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Heat recovery 0.86 kWh/Tx, 27,905 kWh/yr. [Ope] [Gem]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Bendigo · AU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RO-reject reuse, named ANZSN benchmark.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Queen Elizabeth · AU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Modern RO retrofit, lower L+kWh per Tx.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Barwon · AU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Process optimization &amp; metering case.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Spain · 20 centers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Mean 476.5 L/session; daily-opening 430 L vs 3×/wk 630 L. [Ope] [Gem]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All evidence aggregated and verifiable via Appendix B (case-study table) and Appendix I (sources).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3 ·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14 / 53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UK case cluster — Canterbury · Bristol · Ashford · East Kent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Pattern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Design-in beats retrofit on capex (Ashford).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Bigger centers compound savings (Bristol).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RO-reject is the dominant lever (Canterbury, Bristol).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Heat recovery is a second lever — pairs with reject reuse (East Kent).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Translation to France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UK uses NHS-style local approvals — France adds ARS / EICH layer.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UK tariffs differ — French ROI uses local water+sewer per m³.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UK shows reuse is technically routine — the missing layer in France is the dossier.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49"/>
              </a:tblGrid>
              <a:tr h="53492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Center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Intervention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Volume saved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Money saved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Energy / co-benefit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53492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Canterbury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RO-reject recovery → toilets &amp; cleaning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800 L/h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~£7,500/yr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[Ope]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Bristol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RO-reject reuse (large center)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13,140 m³/yr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&gt;£15,000/yr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[Ope]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53492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Ashford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Design-in at new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n/a low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~£2,500 design-in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[Ope]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East Kent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Heat exchanger recovery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0.86 kWh/Tx · 27,905 kWh/yr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[Ope] [Gem]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3 · 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15 / 53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Australia / New Zealand — ANZSN, Bendigo, Queen Elizabeth, Barwon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ANZSN aggregated impact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&gt;160,000 L/yr water saved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6.4 MWh/yr electricity saved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720 L citric acid solution avoided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~AU$2,400 product savings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Source: [Ope]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Modern vs old RO — measured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RO replacement alone yields a ~35% water + 57% energy per-treatment cut. [Ope]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Why this matters for the playbook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Even without reuse, RO replacement is a major lever.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Disinfection optimization (citric / heat) saves chemicals + water + carbon together.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Process improvement and reuse are additive, not alternatives.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ANZSN proves a green-nephrology network can publish results — basis for the EcoDialysis label.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Bendigo · Queen Elizabeth · Barwon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Each is a named ANZSN benchmark in RO-reject reuse, modern-RO retrofit, and process metering respectively. They form a triple-case template the French market currently lacks. [Ope] [Gem]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891540">
                <a:tc>
                  <a:txBody>
                    <a:bodyPr wrap="square" lIns="36000" rIns="36000" tIns="18000" bIns="18000"/>
                    <a:lstStyle/>
                    <a:p/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Old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Modern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8915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 /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kWh / treatment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7.2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3.1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3 · ANZ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16 / 53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Process optimization proof — Spain, modern RO, disinfection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Spain · 20-center benchmark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Schedule shape is a direct water + energy lever. [Ope] [Gem]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The three optimization levers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Equipment: modern RO (357 L vs 548 L; 3.1 kWh vs 7.2 kWh). [Ope]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Schedule: daily vs 3×/week pattern (430 L vs 630 L / HD). [Ope]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Disinfection: citric vs heat, frequency optimization, water + chemical avoidance. [Gem] [S26]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Inside the dialysate loop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Qd reduction (e.g. 500 → 400 ml/min): ~24 L dialysate savings/session in cited framing. [S26]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60–100 L pretreated water economy per session in same context. [S26]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HDF tuning, conductivity-routed reject. [Gem]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Cohort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 / HD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kWh / HD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20-center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476.5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Daily-opening centers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430.20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10.82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3×/week centers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629.81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16.79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3 · Optimisation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17 / 53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French proof — Saint-Exupéry, AP-HM, SFNDT playbook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Clinique Saint-Exupéry · Toulouse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~1,128 m³/yr water saved (RO-reject reuse). [S26]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Investment ~€30k, payback 5–6 years.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French operational template — the closest match to EcoDialysis reference center.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AP-HM · Marseille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Larger-reuse-potential studies referenced.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Shows CHU-scale interest and ARS pathway feasibility. [S26]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SFNDT 2026 playbook — what it confirms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RO-reject reuse is a recommended action sheet. [S26]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Centralized acid-concentrate reduces waste &amp; consumption.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Storage constraints: duration, temperature, distance.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Separate-network requirements.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No direct leap to high-risk reuse.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Energy management obligations, waste reduction, staff actions, RSE communication.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3 ·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18 / 53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FFFFFF"/>
                </a:solidFill>
              </a:rPr>
              <a:t>Part 4 —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6F0FB"/>
                </a:solidFill>
              </a:rPr>
              <a:t>Not a tank. Not an ESG report. A site-specific water-resilience playbook delivered as audit + dossier + implementation + monitoring + label.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6F0FB"/>
                </a:solidFill>
              </a:rPr>
              <a:t>EcoDialysis · ANDCS × MIT Hacking Medicine · Paris 2026    ·    Part 4    ·    19 / 53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Why not just buy a tank?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The tank fantasy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"Just install a tank under the RO and reuse the water."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This view dies on first contact with the hospital water plant.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What a tank cannot do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Cannot characterize the reject stream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Cannot match volumes to non-clinical demand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Cannot file the EICH dossier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Cannot operate the separated network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Cannot pass CLIN review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Cannot prove the savings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Cannot scale across a GHT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What EcoDialysis does instead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Audit — 4-point metering + bills + plans + RO inventory.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Map — green/orange/red reuse routes for this exact site.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Size — storage + network + treatment matched to demand profile.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File — EICH-compliant ARS dossier with sign-off chain.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Implement — partner with plumbers / integrators / RO vendors.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Meter — continuous SaaS monitoring + monthly verification.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Certify — EcoDialysis label per site, benchmarkable.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4 ·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20 / 53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Product architecture — audit · playbook · implementation · monitoring · 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1 · Audit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Site visit + data pull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4-point meter install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Bills &amp; tariff analysis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Demand map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Baseline 4–6 wk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€8–18k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2 · Playbook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Green / orange / red map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Scenario ROI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EICH dossier draft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Risk register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Go / no-go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€10–25k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3 · Implementation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Tender support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Integrator coordination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Hygiene sign-off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Commissioning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Staff training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5–15 % of CAPEX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4 · Monitoring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SaaS dashboard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4-point + conductivity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Monthly verification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ARS reporting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Alarms &amp; carnet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€600–1,400 / month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5 · Label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EcoDialysis certification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Benchmark database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Annual audit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Public registry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Network effect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€3–8k / yr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Wedge = audit. Repeatability = playbook. Recurring = monitoring. Network = label. Defensibility = benchmark database. [Pch] [Per] [S26]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4 ·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21 / 53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Equipment &amp;amp; supplier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Detailed supplier landscape with caveats &amp; partnership roles in Appendix A11.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2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Equipment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Reference suppliers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EcoDialysis touchpoint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Dialysis generator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Hemodialysis machines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Fresenius, B. Braun, Baxter/Vantive, Nikkiso, Nipro, JMS, Quanta, Outset/Tablo, NxStage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Qd / HDF tuning, energy submetering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Water-treatment plant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Pretreatment + RO skid + loop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B. Braun AQUAboss, Fresenius, integrators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4-point metering, reject characterization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Dialyzer + bloodlines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Membranes &amp; circuits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Asahi Kasei, Toray, Fresenius, B. Braun, Nipro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Procurement scorecard (Phase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Acid concentrate / bicarbonate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Liquid + cartridge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Fresenius, B. Braun, Baxter, regional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Centralized distribution playbook [S26]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Disinfection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Citric, heat, peracetic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Vendor-bundled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Frequency optimization [Gem] [Ope]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Reuse hardware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Tanks, pumps, UV-C, backflow prevention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Local integrators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Sizing, anti-backflow class (EA/EB/AA)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Metering &amp; 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Flow, conductivity, energy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Endress+Hauser, Siemens, regional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SaaS data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Waste &amp; consumables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DASRI/DAOM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Veolia, Suez, regional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Sorting + reduction (Phase 3)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Future / 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NeoKidney, AWAK, REDY sorbent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NextKidney, AWAK, vendor R&amp;D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Watch &amp; pilot integration [Gem]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4 · Equipment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22 / 53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Technology maturity — ready now / site-specific / pilot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Full 18-row matrix in Appendix A13. Sources: [Gem] [Ope] [S26]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1611042"/>
                <a:gridCol w="1611042"/>
                <a:gridCol w="1611042"/>
                <a:gridCol w="1611042"/>
                <a:gridCol w="1611042"/>
              </a:tblGrid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Lever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Maturity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Water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Energy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Waste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Clinical risk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EcoDialysis phase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RO-reject → non-clinical reuse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None (boundary)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RO replacement (357 L vs 548 L)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Ready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Disinfection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Heat recovery (East Kent)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Ready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Qd reduction (500→400 ml/min)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Site-specific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Clinical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Centralized acid concentrate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Site-specific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Conductivity-routed reuse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Site-specific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Pretreatment recovery RO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Site-specific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−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HDF dialysate volume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Site-specific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Clinical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Sorbent / portable (REDY, AWAK)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Pilot only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Watch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NeoKidney wearable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Pilot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Spent dialysate reuse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Not deployable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Boundary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Never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4 · Maturity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23 / 53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Business model — audit · playbook · SaaS · success · 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Five revenue lines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Pricing illustrative; calibrated on first pilots.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Channels &amp; expansion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Direct: CHU sustainability office, biomedical engineering.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GHT rollout: one CH wins → cluster follows.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Private networks: AURA / Diaverum / NephroCare / Echo-style chains.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Supplier partnerships: RO &amp; generator vendors include EcoDialysis audit at sale.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Subsidy partners: Agences de l'Eau (basin-specific), CEE (verify category), ADEME.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Why this compounds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Audit data → benchmark database → defensibility.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Playbook reuse → margin expansion.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Label adoption → network effect among nephrology directors.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38208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Line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38208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Wedge, paid 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€8–18k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08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Playbook + EICH dossier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Per site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€10–25k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8208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Implementation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% of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5–15 %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08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SaaS monitoring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Recurring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€600–1,400 / mo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8208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Success fee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% of verified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10–20 % yr 1–3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09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Label + benchmark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Annual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€3–8k / yr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4 ·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24 / 53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Buyer map — who signs, who pays, who scales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Reference market: ~2,965 health establishments · ~1,100–1,200 dialysis units · 51,700 patients · 77 % in-center/UDM. [Per]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5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4577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Buyer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Pain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Decision unit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Wedge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Expansion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44577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CHU · large 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Reporting + reputation + scarcity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Sustainability office + bioméd + 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Audit + flagship 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Other departments (sterilization, laundry)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CH / GHT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Multi-site scarcity + opex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GHT direction + technique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One CH pilot → GHT framework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Cluster rollout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4577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Private dialysis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Margin compression + ESG mandates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Medical director + ops +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Network-wide audit deal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Cross-country 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Medium independent unit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Opex sensitivity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Owner-medical-director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Audit + light SaaS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Reference for similar units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4577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New-build / renovation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Design-in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Architect + bioméd + 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Ashford-style design-in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Architect partnerships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4 · Buyers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25 / 53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FFFFFF"/>
                </a:solidFill>
              </a:rPr>
              <a:t>Part 5 — Pilot, risk &amp;amp;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6F0FB"/>
                </a:solidFill>
              </a:rPr>
              <a:t>Three pilots. Six months. A repeatable dossier engine for France.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6F0FB"/>
                </a:solidFill>
              </a:rPr>
              <a:t>EcoDialysis · ANDCS × MIT Hacking Medicine · Paris 2026    ·    Part 5    ·    26 / 53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Three-pilot plan — CHU · GHT · private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Pilot A · CHU flagship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Target: AP-HM / CHU Toulouse / CHU Lyon class.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~150 patients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Full reuse + heat recovery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EICH dossier proof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SFNDT publication path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6 months €80–120k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Pilot B · GHT mid-size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Target: CH in water-stressed basin (Adour-Garonne / Loire).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~80 patients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Reuse + RO upgrade scoping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GHT framework agreement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Agence de l'Eau co-funding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6 months €60–90k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Pilot C · Private network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Target: AURA / Diaverum / regional chain.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3 sites, ~100 patients each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Repeatable playbook test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SaaS + label deployment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Network-rollout option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9 months €140–200k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All three together test: technical feasibility, dossier repeatability, and channel scalability.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5 · Pilots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27 / 53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What we need from each pilot hospital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Access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Water plant &amp; RO room access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Technical plans (water, drainage, electricity)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Dialysis floor session schedule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Non-clinical demand map (toilets, cleaning, HVAC, garden)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Permission to install 4 meters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Data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12 months water + sewer bills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RO + generator inventory + age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Energy bills for water-treatment area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Session log (sessions/yr per machine)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Existing maintenance &amp; disinfection logs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People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Bioméd / services techniques referent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Hygiene / CLIN referent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Direction sponsor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Medical referent (nephrology)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ARS / préfecture pre-file contact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No clinical data. No patient data. The hospital remains the data controller and operational owner.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5 ·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28 / 53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What we deliver in 30 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Day 1 – 10 · Eco-audit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Site visit + interviews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4-point meter install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Bills + plans analysis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RO + generator inventory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Day 10 – 20 · Mapping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Green/orange/red reuse routes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Demand profile vs reject profile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Three reuse scenarios sized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Day 20 – 25 · Scenario ROI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Low / central / high reject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50 / 70 / 90 % capture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Tariff + CAPEX sensitivity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Subsidy stacking option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Day 25 – 30 · Decision pack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Risk register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EICH dossier draft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Go / no-go recommendation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Implementation timeline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Output: A4 dossier + 1-page board memo + live SaaS dashboard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5 ·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29 / 53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What we refuse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Boundaries we will not cross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No patient-contact reuse, ever.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No reuse fed back to dialysis-water production.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No spent-dialysate reuse.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No guarantee of ARS approval — every dossier is local.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No unverified CNAM / tariff claim.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No full carbon-neutrality claim — water adaptation first.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No black-box calculation — methodology is published.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No vendor lock-in recommendation without comparative evidence.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How this maps to claim control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Methodology box on every report.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Objective, perimeter, assumptions, uncertainty. [TSP]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Caveat language standardized.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Forbidden-claim list maintained in Appendix A16.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5 ·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30 / 53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KPIs &amp;amp; success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Operational KPIs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L/session reject — measured continuously.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L/session substituted — measured at reuse meter.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kWh/session — RO + dialysate loop.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Disinfection chemical avoided.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Conductivity excursions = 0.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Dossier &amp; trust KPIs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Time-to-dossier (target ≤ 60 days).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ARS approval rate.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Carnet sanitaire compliance.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Monthly verification on time.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EcoDialysis-labelled centers 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5 ·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31 / 53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Risk &amp;amp; trust — what could go wrong, how we protect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Full register with evidence sources in Appendix A14.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2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ARS rejection /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No deployment without dossier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Pre-file early; templated EICH dossier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 + hospital 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Biofilm / cross-connection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Patient &amp; staff safety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Separated network, anti-backflow (EA/EB/AA), monitoring, emergency stop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 + hygiène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Demand-supply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Empty reuse loop = no ROI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Pre-sizing storage + demand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Tariff weakening ROI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Low water/sewer tariff = poor payback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 triage; refuse low-ROI sites; subsidy stacking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Capex retrofit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Layout-dependent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 triage; design-in for new-build (Ashford)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Hospital + 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Overclaiming ESG / carbon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Loss of trust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Methodology box; refusal list; published caveats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Patient / staff perception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Social licence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Communication kit + boundary clarity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Hospital direction + 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Supplier lock-in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Bias risk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Comparative evidence requirement, vendor-neutral specs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5 ·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32 / 53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Defensibility — five compounding moats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Benchmark DB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Every audit feeds a France-specific water/energy benchmark unavailable elsewhere.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Playbook library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Repeatable EICH dossiers shorten each new project — margin compounds.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Source-labelled evidence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Every claim chip-linked to a primary source — defensible vs consultants.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EcoDialysis label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Network effect among nephrology directors and ARS reviewers.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Supplier scorecard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Procurement leverage as we expand into devices and consumables.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5 ·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33 / 53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Future expansion — water first, then four more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Water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RO reject, heat recovery, Qd tuning, disinfection.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Energy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RO replacement, heat exchangers, schedule optimization.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Consumables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Acid concentrate centralization, dialyzer scorecard, packaging.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Procurement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Supplier sustainability scoring with TSP / IDMD logic. [TSP] [Ird]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Label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EcoDialysis as a recognized standard across nephrology in France &amp; 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 5 ·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34 / 53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E6F0FB"/>
                </a:solidFill>
              </a:rPr>
              <a:t>Hospitals do not need another ESG dashboard.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6F0FB"/>
                </a:solidFill>
              </a:rPr>
              <a:t>EcoDialysis · ANDCS × MIT Hacking Medicine · Paris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FFFFFF"/>
                </a:solidFill>
              </a:rPr>
              <a:t>Appendix — diligence evidence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6F0FB"/>
                </a:solidFill>
              </a:rPr>
              <a:t>23 extracted sources · 0 extraction failures · all key facts traced to a primary document.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6F0FB"/>
                </a:solidFill>
              </a:rPr>
              <a:t>EcoDialysis · ANDCS × MIT Hacking Medicine · Paris 2026    ·    Appendix    ·    36 / 53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 · Source map — 23 extracted sources, zero extraction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Reliability legend — High: official regulation, government, professional society. Medium-high: official corporate, peer-reviewed. Medium: secondary synthesis. Low: excluded.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5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Chip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Quality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DR-France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EcoDialysis_Perplexity.pdf (+ .docx)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Deep-research strategy synthesis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Gem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DR-Tech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Clinical and Technical Advancements in Dialysis_Gemini.pdf (+ .docx)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Deep technical synthesis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Medium-high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DR-Water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Water Sustainability Practices in Dialysis_OpenAI.pdf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Deep-research synthesis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Medium-high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S23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SFNDT-2023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SFNDT_guide complet-VF-HD-2_260526.pdf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Professional society guidance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SFNDT-2026-L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Guide_des_bonnes_pratiques_en_néphrologie_verte_Ve_260526.pdf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Professional society guidance (long)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S26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SFNDT-2026-S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Guide_de_la_néphrologie_verte_Version_courte_2026_260526.pdf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Professional society guidance (short)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Gov-Health-Roadmap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Planification écologique du système de santé.pdf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Government roadmap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TSP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TSP-Health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TSP-Decarbonons-les-industries-des-medicaments-RF.pdf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The Shift Project report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TSP-Pathway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[PPJS] Guide méthodologique pour l'évaluation carbone des parcours de soin.pdf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Methodological guide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TSP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TSP-Med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240404-Rapport-Decarbonons-lAutonomie-The-Shift-Project-1-1.pdf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Report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Medium-high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IRDES-Sustainability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IRDES · Soutenabilité environnementale des systèmes de santé.pdf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Literature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HCW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HCWH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L'empreinte climatique du secteur de la santé Health Care Without Harm.pdf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NGO global analysis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Medium-high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HCW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Global-Green-Health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Green health how to decarbonise global healthcare systems.pdf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Global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Medium-high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HCW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Climate-friendly-healthcare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Climate-friendly healthcare reducing the impacts of the healthcare sector.pdf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Global report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Pitch-v3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EcoDialysis_Pitch_v3.pptx + 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Internal pitch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 (narrative)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Pch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Base-v1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 Pitch_v1.html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Internal HTML baseline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Internal style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Vendor-block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Official corporate / regulatory pages (Fresenius, B. Braun, Vantive/Baxter, Nipro, Nikkiso, Asahi Kasei, Toray, JMS, Quanta, NxStage, SNITEM/C2DS/AFNOR SPEC 2313)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Corporate &amp; regulatory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Medium-high to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37 / 53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A2 · Source chip registry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Per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France market &amp; GTM deep research (Perplexity).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Gem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Technology deep research (Gemini).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Ope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Water sustainability deep research (OpenAI).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S23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SFNDT 2023 green nephrology guide.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S26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SFNDT 2026 long &amp; short guides.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Gov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Planification écologique du système de santé.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TSP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The Shift Project (health, pathway, autonomy).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Ird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IRDES literature review.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HCW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Health Care Without Harm + global green health.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Pch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EcoDialysis pitch v1 / v3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38 / 53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A3 · DR-Water insight table — 18 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Primary chip: [Ope] (DR-Water). Cross-confirmed by [Gem].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Fact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Quantity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Canterbury RO-reject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800 L/h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Canterbury annual savings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~£7,500/yr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Ashford design-in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~£2,500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Bristol water saving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13,140 m³/yr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Bristol annual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&gt;£15,000/yr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East Kent heat exchangers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0.86 kWh/treatment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East Kent projected annual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27,905 kWh/yr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ANZSN aggregated water saved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&gt;160,000 L/yr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ANZSN aggregated electricity saved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6.4 MWh/yr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ANZSN citric acid avoided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720 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ANZSN product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~AU$2,400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Modern AU RO water per treatment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357 L (vs 548 L old)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Modern AU RO energy per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3.1 kWh (vs 7.2 kWh 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Spain 20-center mean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476.5 L/session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Spain daily-opening centers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430.20 L/HD · 10.82 kWh/HD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Spain 3×/week centers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629.81 L/HD · 16.79 kWh/HD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Named benchmarks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Bendigo · Barwon · Queen Elizabeth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7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Future / pilot track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REDY · NeoKidney · AWAK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39 / 53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A4 · DR-France insight table — 12 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Primary chip: [Per]. Carbon caveat aligned with [TSP] methodology.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Fact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French dialysis patients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~51,700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In-center / UDM share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~77 %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Feedwater per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~400–500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RO reject fraction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50–70 %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First adopters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CHU / CHRU + large 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Health establishments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~2,965 (context-dependent)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Dialysis units (est.)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~1,100–1,200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Reference center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100 patients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Sessions / patient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Total sessions / yr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15,600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Reject / session assumption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270 L (low 220 · high 320)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Reference reject volume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~4,200 m³/yr · ~1.0–1.1 tCO₂e water-only caveat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40 / 53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A5 · DR-Tech insight table — 15 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Primary chip: [Gem]. Reinforces maturity matrix in Appendix A13.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Fact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Taxonomy: reuse · RO optimization · disinfection · heat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Supports 476.5 L/session multicenter benchmark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High-recovery RO architecture pathway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Conductivity-based routing logic for reuse decisions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Consolidates Canterbury / Ashford / Bristol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Confirms ANZSN disinfection optimization logic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Heat-recovery cases (East Kent, Newcastle)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Distinguishes low-risk non-clinical vs higher-risk pathways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Sorbent / portable systems as emerging 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NeoKidney and AWAK pilot status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Retrofit cost and governance barriers identified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Recommends staged implementation roadmap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Reinforces metering and process controls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Positions spent dialysate reuse as not first-wave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7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Supports evidence-level stratification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41 / 53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A6 · SFNDT 2023 — green nephrology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Primary chip: [S23]. Clinical credibility anchor.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Insight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Structured green nephrology action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Water · energy · waste levers integrated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Governance and team-level ownership emphasized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Training and implementation culture central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Procurement and life-cycle orientation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Risk-aware operational transition framing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Dialysis footprint reduction hierarchy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Measurement-first logic (matches EcoDialysis architecture)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Continuous improvement approach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Quality-and-safety co-framing of sustainability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Multi-domain indicator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Basis for actionable checklists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42 / 53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A7 · SFNDT 2026 long guide — 20 operational 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Primary chip: [S26]. The closest match to EcoDialysis operational playbook.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Fact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Quantity if any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Detailed action sheets for dialysis &amp; nephrology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Qd reduction pathway with quantified per-session savings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see #3, #4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Dialysate savings from 500→400 ml/min framing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~24 L/session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Pretreated water economy in the same context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~60–100 L/session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Multicenter French Qd evaluation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HDF optimization &amp; dialysate volume tradeoffs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Centralized acid-concentrate 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waste + consumption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Dedicated section on RO-reject reuse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French case: Clinique Saint-Exupéry Toulouse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Saint-Exupéry reported saving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~1,128 m³/yr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Saint-Exupéry investment / payback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~€30k · 5–6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AP-HM Marseille larger-reuse-potential studies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Practical storage constraints (duration, temp, distance)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Separate-network requirements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No direct leap to high-risk reuse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boundary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Energy management obligations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Waste reduction pathways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Staff / organizational actions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RSE and communication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Reusable as implementation playbook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43 / 53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A8 · Government / regulation appendix — EICH &amp;amp; Décret 2024-796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Décret n°2024-796 · in force 1 Sept 2024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EICH framework = Eaux Impropres à la Consommation Humaine.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Covers sensitive establishments including healthcare.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Authorizes non-clinical reuse subject to ARS / préfecture file.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Mandatory separated network.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Anti-backflow devices required.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Signage program required.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Carnet sanitaire entries required.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Monitoring &amp; maintenance plan required.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Emergency stop to potable fallback required.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No patient-contact reuse permitted.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Stakeholder map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ARS — health authority sign-off.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Préfecture — administrative authorization where required.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Agence de l'Eau — co-funding by basin.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CLIN / hygiène — internal safety committee.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Direction — administrative sponsor.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Services techniques + bioméd — operational owners.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Médical + nephrology — clinical sign-off.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Remaining uncertainties (carried into Appendix A16): exact ARS pathway per basin · monitoring frequency · tariff structure interaction · Agence de l'Eau eligibility · CEE category. Sources: [Gov] [S26]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44 / 53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A9 · Health-system decarbonization context — why water is adaptation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Macro context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Healthcare &gt; 8 % of national GHG footprint. [Gov] [HCW]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~50 MtCO₂e order of magnitude.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Offer of care ~45 % · medicines &amp; medical products ~55 %.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Scope 3 procurement dominates.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Health-system roadmap axes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Buildings &amp; energy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Industries / products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Sustainable procurement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Eco-responsible care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Waste · transport · digital · training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Source: [Gov] Planification écologique.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Why water is adaptation first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Water resilience is a continuity issue, not an ESG metric.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Tariff &amp; scarcity hit opex immediately.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Carbon weight of water is real but secondary (1.0–1.1 tCO₂e on 4,200 m³). [Per] [TSP]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Medical devices &amp; consumables matter for Scope 3 — addressed in EcoDialysis Phase 3.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System-level resilience framing aligns with TSP &amp; IRDES. [TSP] [Ird]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45 / 53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A10 · Equipment ecosystem — environmental, data, intervention,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49"/>
              </a:tblGrid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Environmental issue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Data needed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Intervention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Boundary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Dialysis generator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Energy + water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Sessions/machine, Qd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Qd reduction, HDF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Clinical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 + nephro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Water-treatment plant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Reject volume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Mains-in, permeate, reject flows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Modern RO, conductivity routing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 sign-off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Services techniques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RO skid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L+kWh /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Age, model,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Replacement / retrofit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Pretreatment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Chemical use, backwash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Filter change cycles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Optimization, recovery RO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Dialysate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Disinfection cycles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Citric / heat 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Optimization, chemical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 + hygiène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Dialyzer membranes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Single-use waste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 scorecard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Procurement scoring (Phase 3)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Clinical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 + médical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Bloodlines / needles / catheters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Single-use waste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Volume + supplier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Packaging + 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Pharma + 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Acid concentrate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Logistics + packaging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Local vs central feed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Centralized distribution [S26]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Hygiène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Services techniques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Bicarbonate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Cartridge waste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Consumption /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Procurement scorecard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Saline / disinfectants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Chemicals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Volumes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Optimization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Hygiène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Pharma + hygiène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Packaging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Cardboard / plastic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Supplier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Procurement scorecard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Logistics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DASRI / DAOM waste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High-carbon waste stream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Sort rates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Sorting + reduction [Ird]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Hygiène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Services généraux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Sensors / 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Existing 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4-point install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Tanks / pumps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Reuse hardware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Demand profile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Sizing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Engineering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Integrator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UV-C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Reuse polishing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Flow + microbio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Inline reuse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Integrator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Backflow prevention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Cross-connection risk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Network plan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EA/EB/AA per use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Regulatory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Plumbing + hygiène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46 / 53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A11 · Supplier landscape (verify local relevance)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Sources: official corporate pages + vendor landscape evidence block (see A1).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5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Relevant products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EcoDialysis lever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Caveat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Fresenius Medical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Generator + RO + dialyzer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5008/6008, AquaA/AquaB, dialyzers, NxStage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Modern RO, generator tuning, 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 neutrality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B. Braun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Generator + water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Dialog, AQUAboss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Water plant, reject reuse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Baxter / Vantive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Generator + PD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Artis, AK series; PD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Generator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Recent spin-off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Nipro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Generator + dialyzer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Surdial, dialyzers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Procurement scorecard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EU footprint variable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Nikkiso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Generator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DBB-EXA, water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Generator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Asahi Kasei Medical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Dialyzer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Membranes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Procurement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Toray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Membranes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JMS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Dialyzer + bloodlines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Products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Procurement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Regional footprint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Quanta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Generator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SC+ portable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New low-water entrant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Pilot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Outset / Tablo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Generator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Tablo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Water-light alternative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US-focused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NextKidney (NeoKidney)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Future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Wearable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Watch &amp; 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Pre-deployment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AWAK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Future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Sorbent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Watch &amp; pilot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Pre-deployment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Endress+Hauser / 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Metering / 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Flow, conductivity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SaaS data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Veolia / Suez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Water &amp; waste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Operator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Reuse hardware, waste audit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Bias risk → vendor neutrality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7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SNITEM / C2DS / AFNOR SPEC 2313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Procurement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IDMD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Scorecard 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47 / 53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A12 · Financial model — scenarios &amp;amp; sensitivities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Reject scenario × capture rate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All figures m³/yr for the reference 100-patient center. [Per]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Tariff &amp; payback sensitivity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Saint-Exupéry anchor: ~1,128 m³, ~€30k, 5–6 yr payback. [S26]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What cannot be quantified yet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Exact CEE category and €/MWh equivalence for water reuse.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Agence de l'Eau co-funding per basin and project.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CNAM tariff impact (none assumed — caveat required).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Carbon credit eligibility (not claimed).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Decision rule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Refuse sites with tariff &lt; €1.80/m³ unless subsidy or scarcity-risk override.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Prefer design-in over retrofit when window exists (Ashford pattern).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Couple reuse with RO replacement when RO &gt; 10 yr.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5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Reject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m³/yr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50 % capture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70 %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90 %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Low 220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3,432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1,716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2,402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3,089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Central 270 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4,212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2,106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2,948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3,791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 320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4,992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2,496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3,494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4,493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48 / 53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A13 · Technology maturity full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8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32"/>
                <a:gridCol w="1253032"/>
                <a:gridCol w="1253032"/>
                <a:gridCol w="1253032"/>
                <a:gridCol w="1253032"/>
                <a:gridCol w="1253032"/>
                <a:gridCol w="1253032"/>
                <a:gridCol w="1253032"/>
                <a:gridCol w="1253032"/>
              </a:tblGrid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Lever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Maturity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Water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Energy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Waste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Capex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Reg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RO-reject non-clinical reuse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UK + AU +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EICH dossier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Modern RO replacement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Ready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AU measured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Heat recovery (exchangers)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East Kent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Disinfection optimization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Ready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ANZSN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Conductivity-routed reuse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Tech synthesis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Pretreatment recovery RO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Tech synthesis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−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Qd reduction (500→400)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SFNDT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HDF dialysate volume tuning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SFNDT 2026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Clinical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Centralized acid concentrate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SFNDT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Hygiène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Schedule shape (daily vs 3×/wk)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Clinical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Toilet flushing reuse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EICH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Cleaning &amp; outdoor reuse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Ready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UK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EICH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HVAC cooling-tower make-up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Industry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Laundry pre-wash reuse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Cross-sector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EICH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Sterilization feed (non-final)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Cross-sector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EICH + hygiène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Sorbent / portable (REDY/AWAK)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Pilot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 R&amp;D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Watch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NeoKidney wearable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 R&amp;D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56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Spent dialysate reuse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Boundary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Forbidden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Never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49 / 53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A14 · Risk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ARS rejection /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No reuse without dossier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Pre-file, templated EICH dossier, prior-art casework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 + 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[Gov] [S26]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Biofilm / infection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Patient safety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UV-C polishing, anti-stagnation, monitoring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 + hygiène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[S26] [Gem]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Cross-connection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Potable contamination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Separated network, EA/EB/AA backflow, signage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Plumbing + hygiène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[Gov]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Conductivity excursion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Reuse quality drift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Inline routing to drain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[Gem]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Demand-supply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Empty reuse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Storage sizing, demand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[S26] [Ope]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Retrofit capex blow-out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ROI risk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 triage, design-in option (Ashford)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 + EcoDialysis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[Ope]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Low tariff weakens ROI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Payback &gt; 7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 triage, subsidy stacking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[Per]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Procurement delays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Months added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Framework agreements, GHT route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Overclaiming ESG / carbon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Reputational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Methodology box, claim-control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[TSP]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Patient / staff perception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Social licence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Communication kit, boundary clarity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[S26]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Ownership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Operational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RACI per site,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Supplier lock-in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Bias risk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Vendor-neutral specs, comparative evidence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[TSP]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50 / 53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A15 · Pilot implementation appendix — week-by-week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RACI matrix and reporting templates available in playbook pack.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5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24314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Deliverables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Hospital data needed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Approvals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24314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Mobilization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Kick-off, NDA, sponsor letter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Org chart,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14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1–2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 audit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Visit, plans review, RO inventory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Plans, RO logs, 12-mo bills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Services techniques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4314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2–3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Metering install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 meters + conductivity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Plumbing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 + hygiène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14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3–7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Continuous logging, demand mapping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Session schedule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4314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7–9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Scenario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Green/orange/red map, sizing, ROI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Tariffs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 + technique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14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9–12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Dossier draft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EICH file, risk analysis, sign-off chain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Hygiène + direction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4314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12–14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Pre-file 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Informal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14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14–18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Implementation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Plumbing, tank, UV-C, backflow, SaaS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 access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CLIN, ARS final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4314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18–20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Commissioning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Testing, training, signage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Staff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 + hygiène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15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20–24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Verification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Monthly reports, KPI bundle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 + finance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51 / 53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A16 · Claim control — allowed vs forbidden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Allowed claims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"Captured X m³ of RO reject this month (M3 meter)."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"Substituted Y m³ in non-clinical uses (M4 meter)."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"Saved €Z based on local tariff bill verification."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"Reduced disinfection cycles by N — chemicals avoided."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"EICH-compliant dossier filed at ARS [date]."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"Carnet sanitaire updated; zero conductivity excursions."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"Energy savings X kWh from RO replacement (measured)."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Forbidden claims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"Carbon neutral" — never.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"Zero impact" — never.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"ARS-approved at every site" — local decision.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"Patient water reused" — never.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"Spent dialysate recycled" — never.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"Equivalent to X cars off the road" without TSP methodology disclosure.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"Eligible for CEE / Agence de l'Eau" without written confirmation.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"Saves the hospital N €" without verified bill comparison.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Methodology box mandatory on every report: objective, perimeter, assumptions, uncertainty, data quality, caveats. [TSP]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52 / 53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Appendix I · Full source registry (chip anchors)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[Per] DR-France · Perplexity EcoDialysis_Perplexity.pdf (+ .docx) — France market, ~51,700 patients, 77% in-center/UDM, reference-center model. Quality: Medium (secondary synthesis).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[Gem] DR-Tech · Gemini Clinical and Technical Advancements in Dialysis_Gemini.pdf (+ .docx) — technology taxonomy, conductivity routing, maturity matrix support. Quality: Medium-high.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[Ope] DR-Water · OpenAI Water Sustainability Practices in Dialysis_OpenAI.pdf — Canterbury, Bristol, Ashford, East Kent, ANZSN, modern vs old AU RO, Spain 20-center. Quality: Medium-high.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[S23] SFNDT 2023 SFNDT_guide complet-VF-HD-2_260526.pdf — green nephrology framework, measurement-first, governance. Quality: High.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[S26] SFNDT 2026 Guide_des_bonnes_pratiques_en_néphrologie_verte_Ve_260526.pdf + Guide_de_la_néphrologie_verte_Version_courte_2026_260526.pdf — Qd savings, Saint-Exupéry case, AP-HM, RO-reject reuse playbook. Quality: High.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[Gov] Government / regulation Planification écologique du système de santé.pdf + Décret n°2024-796 (12 July 2024, in force 1 Sept 2024, EICH). Quality: High.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[TSP] The Shift Project TSP-Decarbonons-les-industries-des-medicaments-RF.pdf · [PPJS] Guide méthodologique pour l'évaluation carbone des parcours de soin.pdf · 240404-Rapport-Decarbonons-lAutonomie-The-Shift-Project-1-1.pdf. Quality: High.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[Ird] IRDES La soutenabilité environnementale des systèmes de santé. Une revue de littérature sur l'empreinte écologique des systèmes de santé. Quality: High.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[HCW] Health Care Without Harm + Global Green Health L'empreinte climatique du secteur de la santé Health Care Without Harm.pdf + Green health how to decarbonise global healthcare systems.pdf + Climate-friendly healthcare reducing the impacts of the healthcare sector on the world's climate.pdf. Quality: Medium-high.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[Pch] Pitch baseline EcoDialysis_Pitch_v3.pptx + EcoDialysis-Pitch_v3.pdf + EcoDialysis Pitch_v1.html — internal narrative, positioning, GTM skeleton. Quality: High (narrative), internal style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53 / 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