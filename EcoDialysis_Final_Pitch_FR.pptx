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sur la vulnérabilité hydrique cachée. Adaptation d'abord, atténuation ensuite.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étapes = six lignes de revenus.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Raréfaction, réglementation, tarifs, continuité.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raisons + expansion.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Flux d'une séance. Trois flux : vert (rejet), orange (rinçage), rouge (dialysat).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compteurs + conductivité + énergie. La mesure est la douve.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scénarios. Caveat carbone explicite.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Carte décisionnelle. Limite non négociable.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Décret 2024-796 est le déclencheur. EcoDialysis en fait un dossier répétable.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Contenu du dossier 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Justifier le playbook contre le produit générique.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preuves.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 cartes preuve internationale.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Cluster UK + traduction française.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Cluster ANZ + leçons.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leviers, tous mesurés.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Saint-Exupéry + SFNDT 2026 = ancrage français.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produit.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Cuve vs moteur à dossiers.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couches produit.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Écosystème fournisseurs résumé.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Matrice de maturité.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lignes, quatre canaux, trois forces composantes.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archétypes acheteurs.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pilotes.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Demandes concrètes. Pas de données cliniques.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Horloge 30 jours.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Liste de refus = douve de confiance.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KPI = ops, dossier, confiance.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Registre des risques.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douves.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phases d'expansion.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Clôture.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Annexe.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A1 FR.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A2 FR.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A3 FR.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A4 FR.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A5 FR.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A6 FR.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A7 FR.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A8 FR.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A9 FR.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A10 FR.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A11 FR.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A12 FR.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A13 FR.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A14 FR.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A15 FR.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A16 FR.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Ancres sources FR.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</p:txBody>
      </p:sp>
      <p:sp>
        <p:nvSpPr>
          <p:cNvPr id="5" name="TextBox 4"/>
          <p:cNvSpPr txBox="1"/>
          <p:nvPr/>
        </p:nvSpPr>
        <p:spPr>
          <a:xfrm>
            <a:off x="457200" y="3749039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E6F0FB"/>
                </a:solidFill>
              </a:rPr>
              <a:t>La dialyse a une vulnérabilité hydrique cachée.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E6F0FB"/>
                </a:solidFill>
              </a:rPr>
              <a:t>EcoDialysis · ANDCS × MIT Hacking Medicine · Paris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Agenda stratégique — du gaspillage caché à la résilience hydrique certifiée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0A2A55"/>
                </a:solidFill>
              </a:rPr>
              <a:t>Six mouvements. Chacun est aussi une ligne de revenus EcoDialysis.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1 · Voir le problème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Rendre visible le flux d'eau caché de la dialyse à l'échelle de la séance.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2 · Choisir la bonne réutilisation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Carte vert / orange / rouge de chaque voie de réutilisation non clinique.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3 · Monter le dossier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Dossier de sécurité ARS / préfecture conforme EICH par site.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4 · Mettre en œuvre &amp; mesurer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Métrologie 4 points, réseau séparé, prévention des interconnexions, carnet sanitaire.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5 · Vérifier les économies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Tableau de bord SaaS, vérification mensuelle, preuves KPI pour ARS et direction financière.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6 · Certifier &amp; déployer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Label EcoDialysis → déploiement GHT / réseau privé → expansion européenne.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Adaptation d'abord, atténuation ensuite. [Pch] [S26] [Gov]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Sommaire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2 / 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000">
                <a:solidFill>
                  <a:srgbClr val="0A2A55"/>
                </a:solidFill>
              </a:rPr>
              <a:t>Pourquoi l'eau, pourquoi maintenant — la décennie hospitalière sous contrainte hydrique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La nouvelle réalité opérationnelle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Raréfaction : bassins français en déficit structurel (Loire, Adour-Garonne, PACA).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Réglementation : Décret n°2024-796 (12 juillet 2024, en vigueur 1er sept. 2024) ouvre la voie de la réutilisation non clinique.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Tarifs : indexation eau + assainissement pèse sur l'OPEX ; assainissement souvent &gt; eau potable.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Continuité : sécheresses et arrêtés menacent les fonctions techniques en été.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Reporting : Planification écologique du système de santé impose des plans eau par établissement. [Gov] [TSP] [Ird]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Pourquoi les hôpitaux ne peuvent attendre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Santé = &gt; 8 % des GES nationaux, ~50 MtCO₂e (offre de soins 45 %, produits 55 %). [Gov] [HCW]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Offre de soins = bâtiments, énergie, eau, déchets, transport.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La dialyse est le flux hospitalier récurrent le plus intensif en eau.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L'adaptation hydrique rembourse l'OPEX avant que le carbone ne compte.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Partie 1 · Accroche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3 / 53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Pourquoi la dialyse est le bon premier service hospitalier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Mesurable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Boucle technique fermée. Chaque séance a une eau d'alimentation, un volume de rejet et une énergie connus. ~400–500 L d'alimentation, 50–70 % de rejet. [Per] [Gem] [Ope]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Récurrent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~156 séances / patient / an. Centre de 100 patients = 15 600 séances / an. Économies prévisibles.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Techniquement actionnable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Le rejet d'osmose inverse est un flux technique maîtrisé, pas une eau usée patient. Voies de réutilisation déjà éprouvées à l'international. [Ope] [Gem]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Cliniquement borné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Aucun contact patient. Jamais de retour vers la production d'eau de dialyse. Jamais de dialysat usagé. La limite est le coin de confiance.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Aligné aux politiques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Le Guide SFNDT des bonnes pratiques 2026 couvre explicitement la réutilisation du rejet d'osmose. [S26] [S23]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Stratégique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Gagner la dialyse d'abord → étendre à la stérilisation, blanchisserie, cuisines, boucles techniques.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Partie 1 · Accroche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4 / 53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Ce qui est précisément gaspillé — le flux d'eau de dialyse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Une séance, simplifiée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Les trois flux cachés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Concentrat d'osmose (rejet) : propre, faiblement salin, maîtrisé. Plus forte valeur de réutilisation.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Eau de désinfection &amp; rinçage : intermittente, résidus chimiques — réutilisation après dilution / neutralisation seulement.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Dialysat usagé : contact patient — jamais réutilisé. ROUGE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Énergie cachée aussi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Ancienne OI australienne : 548 L + 7,2 kWh / traitement. OI moderne : 357 L + 3,1 kWh. [Ope]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East Kent — échangeurs de chaleur : 0,86 kWh/traitement, 27 905 kWh/an projetés. [Ope]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Partie 1 · Accroche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5 / 53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4000">
                <a:solidFill>
                  <a:srgbClr val="FFFFFF"/>
                </a:solidFill>
              </a:rPr>
              <a:t>Partie 2 — Mesurer et réutiliser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E6F0FB"/>
                </a:solidFill>
              </a:rPr>
              <a:t>Sans mesure, pas de redessin. Sans redessin, pas de certification.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E6F0FB"/>
                </a:solidFill>
              </a:rPr>
              <a:t>EcoDialysis · ANDCS × MIT Hacking Medicine · Paris 2026    ·    Partie 2    ·    6 / 53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Comment l'eau est mesurée — architecture de métrologie 4 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Les quatre compteurs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M1 · Entrée potable — eau totale entrant dans la centrale de traitement d'eau.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M2 · Perméat OI — eau effectivement délivrée à la boucle dialysat.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M3 · Rejet OI — flux technique maîtrisé candidat à la réutilisation.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M4 · Livraison réutilisation — eau effectivement substituée (toilettes / nettoyage / refroidissement).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Plus voies contextuelles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Conductivité sur M3 → logique de routage (forte salinité → égout, faible → réutilisation). [Gem]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Pression + débit sur la boucle de réutilisation → détection fuite et stagnation.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Sous-compteur énergie sur OI + échangeur (optionnel).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Horodaté avec le journal de séance → benchmark L/séance.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Pourquoi mesurer d'abord gagne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SFNDT 2023 et 2026 placent toutes deux la mesure d'abord au cœur de la néphrologie verte. [S23] [S26]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Méthodologie TSP-Pathway : objectif, périmètre, hypothèses transparentes, étude d'incertitude. [TSP]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Pas de mesure → pas de dossier ARS, pas de CEE, pas d'allégation d'économie.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Du compteur à la preuve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Référentiel 4–6 sem. avant toute intervention.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Enregistrement continu après intervention.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Rapport mensuel à direction, technique, hygiène.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Bundle KPI trimestriel pour ARS &amp; finance.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Partie 2 · Mesure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7 / 53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Centre de référence — 100 patients, 15 600 séances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0A2A55"/>
                </a:solidFill>
              </a:rPr>
              <a:t>Une UDM française moyenne typique. Les chiffres que les hôpitaux peuvent vérifier sur leurs propres factures. [Per]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Scénario bas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220 L rejet / séance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3 432 m³ / an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OI moderne, désinfection optimisée.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Scénario central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270 L rejet / séance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4 212 m³ / an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Équipement mi-vie typique.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Scénario haut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320 L rejet / séance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4 992 m³ / an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OI vieillissante + 3×/sem. [Ope]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Caveat carbone eau-seule : ~1,0–1,1 tCO₂e / an pour la tranche 4 200 m³ — secondaire face à la résilience OPEX. [Per] [TSP]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Partie 2 · Site de référence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8 / 53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Ce qui peut être réutilisé — la carte vert / orange / rouge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VERT — réutiliser dès maintenant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Chasses d'eau en zones non cliniques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Nettoyage des sols &amp; extérieur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Appoint tours aéroréfrigérantes (CTA) avec traitement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Arrosage jardin / extérieur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Lavage technique (chariots, bacs)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Preuves : Canterbury, Bristol, Ashford, ANZSN. [Ope] [Gem]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ORANGE — spécifique au site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Prélavage blanchisserie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Alimentation stérilisation (hors rinçage final)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Appoint chaudière / refroidissement avec polissage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Recirculation prétraitement (OI à récupération) — selon vendeur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Réutilisation du rinçage désinfection — seulement après neutralisation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Caveat : exige dossier, qualité de l'eau locale, validation vendeur.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ROUGE — jamais réutiliser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Dialysat usagé (contact patient)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Toute remontée vers la production d'eau de dialyse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Eau de boisson / préparation alimentaire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Rinçage final équipement à contact patient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Rinçage final endoscopes / instruments chirurgicaux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Non négociable. La limite de sécurité est le coin de confiance.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Partie 2 · Carte réutilisation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9 / 53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Droit actuel vs cadre EICH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Avant — pré-1er sept. 2024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Pas de cadre général de réutilisation non potable en santé.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Dérogations ad hoc ARS / DDETSPP.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Projets de réutilisation bloqués par l'incertitude juridique.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Après — Décret n°2024-796, en vigueur 1er sept. 2024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EICH = Eaux Impropres à la Consommation Humaine pour établissements sensibles dont la santé. [Gov] [S26]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Autorise la réutilisation non clinique sous autorisation site-spécifique.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Dossier de sécurité ARS / préfecture exigé.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Réseau séparé, prévention des interconnexions, signalisation, carnet sanitaire.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Surveillance &amp; arrêt d'urgence exigés.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Définit des usages autorisés, pas une licence générale.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Ce qu'EICH ne fait PAS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N'autorise aucune réutilisation à contact patient.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Ne pré-approuve aucun site — chaque dossier est local.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Ne dispense pas de la validation hygiène (CLIN).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Ne garantit pas d'économie tarifaire — structure assainissement / potable locale décide.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Caveat : la voie ARS exacte et la fréquence de surveillance varient selon le bassin et le type d'établissement. À confirmer à chaque dépôt. Voir Annexe H. [Gov]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Partie 2 · Réglementation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10 / 53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Ce que doit contenir un dossier ARS / préfecture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Contenu technique obligatoire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Description de la source : caractérisation du rejet OI (conductivité, microbio, chimie).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Description des usages : usages cibles, volumes, emplacements.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Réseau séparé : schéma, matériaux, dispositifs anti-retour (EA / EB / AA).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Stockage : volume, temps de séjour, matériaux, anti-stagnation.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Traitement le cas échéant : UV-C, filtration, désinfection.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Plan de surveillance : paramètres, fréquence, alarmes.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Arrêt d'urgence &amp; bascule vers potable.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Entrée carnet sanitaire et responsabilités.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Contenu gouvernance obligatoire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Analyse de risque (type HACCP) par usage.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Chaîne de validation : direction, technique, hygiène (CLIN), médical, qualité.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Plan de formation du personnel + signalétique.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Plan de maintenance + contrats de service.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Revue annuelle &amp; rapport à l'ARS.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Carte des parties prenantes (ARS, préfecture, Agence de l'Eau, hygiène).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Sources : [Gov] [S26] [S23]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Partie 2 · Dossier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11 / 53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Pourquoi chaque site exige un playbook sur mesure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0A2A55"/>
                </a:solidFill>
              </a:rPr>
              <a:t>Un playbook spécifique au site n'est pas optionnel. Le même rejet d'osmose n'a pas le même destin dans tous les hôpitaux.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Ce qui varie selon le site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Qualité de l'eau : dureté, chlorure, silice du réseau — détermine le polissage requis.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Structure tarifaire : eau + assainissement €/m³ — détermine le ROI.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Implantation : étage UDM, distance toilettes, accessibilité boucles techniques — détermine le CAPEX.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Âge OI : détermine le volume de rejet (220–320 L).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Profil de demande : planning séances vs demande aux points d'usage — détermine le dimensionnement du stockage.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Gouvernance : CHU vs CH vs privé — détermine le chemin de validation.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Pourquoi une cuve générique échoue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Mauvaise taille → débordement ou pénurie.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Mauvais polissage → biofilm ou incompatibilité chimique.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Mauvais réseau → risque d'interconnexion, refus ARS.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Mauvaise adéquation demande → vide &gt; 30 % du temps.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Mauvais reporting → pas de vérification du ROI, pas de certification.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Les hôpitaux n'ont pas besoin d'un autre tableau ESG. Ils ont besoin d'un playbook opérationnel de résilience hydrique.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Partie 2 · Sur mesure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12 / 53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4000">
                <a:solidFill>
                  <a:srgbClr val="FFFFFF"/>
                </a:solidFill>
              </a:rPr>
              <a:t>Partie 3 — Preuves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E6F0FB"/>
                </a:solidFill>
              </a:rPr>
              <a:t>Des centres internationaux prouvent déjà que la réutilisation et l'optimisation fonctionnent. Le plus dur n'est pas la cuve — c'est le dossier site-spécifique répétable.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E6F0FB"/>
                </a:solidFill>
              </a:rPr>
              <a:t>EcoDialysis · ANDCS × MIT Hacking Medicine · Paris 2026    ·    Partie 3    ·    13 / 53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Preuve internationale — huit centres de référence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Canterbury · UK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Récupération 800 L/h, ~7 500 £/an. [Ope]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Bristol · UK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13 140 m³/an, &gt; 15 000 £/an. [Ope]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Ashford · UK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Conception-intégrée ~2 500 £. [Ope]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East Kent · UK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Récup. chaleur 0,86 kWh/Tx, 27 905 kWh/an. [Ope] [Gem]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Bendigo · AU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Réutilisation rejet OI, benchmark ANZSN.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Queen Elizabeth · AU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Rétrofit OI moderne, L+kWh/Tx réduits.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Barwon · AU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Optimisation procédé &amp; métrologie.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Espagne · 20 centres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Moyenne 476,5 L/séance ; quotidien 430 L vs 3×/sem 630 L. [Ope] [Gem]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Preuves agrégées et vérifiables dans Annexes B (tableau cas) et I (sources).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Partie 3 · Preuves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14 / 53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Cluster UK — Canterbury · Bristol · Ashford · East Kent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24071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Schéma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Conception-intégrée bat le rétrofit en CAPEX (Ashford).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Les grands centres composent leurs économies (Bristol).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Le rejet OI est le levier dominant (Canterbury, Bristol).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La récupération de chaleur est un second levier — couplée au rejet (East Kent).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Traduction française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UK = approbations locales NHS — France ajoute la couche ARS / EICH.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Tarifs UK ≠ FR — ROI français basé sur eau+assainissement local €/m³.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UK montre que la réutilisation est techniquement routinière — la couche manquante en France est le dossier.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634740.0"/>
          <a:ext cx="11277294" cy="2674620.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49"/>
              </a:tblGrid>
              <a:tr h="534924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Centre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Intervention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Volume économisé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Économie €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Énergie / co-bénéfice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</a:tr>
              <a:tr h="534924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Canterbury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Récup. rejet OI → toilettes &amp; nettoyage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800 L/h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~7 500 £/an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[Ope]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4924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Bristol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Réutilisation rejet OI (grand centre)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13 140 m³/an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&gt; 15 000 £/an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[Ope]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534924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Ashford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Conception-intégrée bâtiment neuf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n/a faible capex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~2 500 £ design-in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[Ope]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4924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East Kent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Récupération chaleur échangeur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0,86 kWh/Tx · 27 905 kWh/an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[Ope] [Gem]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Partie 3 · UK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15 / 53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Australie / Nouvelle-Zélande — ANZSN, Bendigo, Queen Elizabeth, Barwon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24071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Impact agrégé ANZSN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&gt; 160 000 L/an d'eau économisée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6,4 MWh/an d'électricité économisée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720 L de solution d'acide citrique évités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~2 400 AU$ d'économies produit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Source : [Ope]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OI moderne vs ancienne — mesuré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Le remplacement OI seul donne ~35 % eau + 57 % énergie en moins par traitement. [Ope]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Pourquoi cela compte pour le playbook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Même sans réutilisation, le remplacement OI est un levier majeur.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Optimiser la désinfection (citrique / chaleur) économise produits + eau + carbone.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Optimisation procédé et réutilisation sont additives, pas alternatives.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ANZSN prouve qu'un réseau de néphrologie verte peut publier — base du label EcoDialysis.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Bendigo · Queen Elizabeth · Barwon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Chacun est un benchmark ANZSN nommé en réutilisation rejet OI, rétrofit OI moderne et métrologie procédé. Triple-modèle dont le marché français manque. [Ope] [Gem]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634740.0"/>
          <a:ext cx="11277294" cy="2674620.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8"/>
              </a:tblGrid>
              <a:tr h="891540">
                <a:tc>
                  <a:txBody>
                    <a:bodyPr wrap="square" lIns="36000" rIns="36000" tIns="18000" bIns="18000"/>
                    <a:lstStyle/>
                    <a:p/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Ancienne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Moderne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</a:tr>
              <a:tr h="8915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L / traitement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548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357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kWh / traitement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7,2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3,1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Partie 3 · ANZ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16 / 53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Preuves d'optimisation — Espagne, OI moderne, désinfection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24071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Espagne · benchmark 20 centres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Le rythme d'ouverture est un levier direct eau + énergie. [Ope] [Gem]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Les trois leviers d'optimisation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Équipement : OI moderne (357 L vs 548 L ; 3,1 kWh vs 7,2 kWh). [Ope]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Planning : quotidien vs 3×/sem. (430 L vs 630 L / HD). [Ope]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Désinfection : citrique vs chaleur, optimisation fréquence, eau + chimie évitées. [Gem] [S26]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Dans la boucle dialysat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Réduction Qd (ex. 500 → 400 ml/min) : ~24 L de dialysat économisés/séance dans le cadrage cité. [S26]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60–100 L d'eau prétraitée économisés par séance dans le même contexte. [S26]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Réglage HDF, rejet routé par conductivité. [Gem]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634740.0"/>
          <a:ext cx="11277294" cy="2674620.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8"/>
              </a:tblGrid>
              <a:tr h="668655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Cohorte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 / HD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kWh / HD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</a:tr>
              <a:tr h="668655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Moyenne 20 centres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476,5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8655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Centres ouverts quotidiennement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430,20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10,82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668655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Centres 3×/semaine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629,81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16,79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Partie 3 · Optimisation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17 / 53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Preuves françaises — Saint-Exupéry, AP-HM, playbook SFNDT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Clinique Saint-Exupéry · Toulouse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~1 128 m³/an d'eau économisée (réutilisation rejet OI). [S26]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Investissement ~30 k€, retour 5–6 ans.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Modèle opérationnel français — la correspondance la plus proche du centre de référence EcoDialysis.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AP-HM · Marseille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Études à potentiel de réutilisation plus large référencées.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Démontre l'intérêt à l'échelle CHU et la faisabilité ARS. [S26]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SFNDT 2026 playbook — ce qu'il confirme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La réutilisation du rejet OI est une fiche-action recommandée. [S26]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Distribution centralisée d'acide concentré réduit déchets &amp; consommation.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Contraintes de stockage : durée, température, distance.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Exigences de réseau séparé.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Pas de saut direct vers la réutilisation à haut risque.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Obligations de gestion énergétique, réduction des déchets, actions équipe, communication RSE.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Partie 3 · France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18 / 53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4000">
                <a:solidFill>
                  <a:srgbClr val="FFFFFF"/>
                </a:solidFill>
              </a:rPr>
              <a:t>Partie 4 — Produit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E6F0FB"/>
                </a:solidFill>
              </a:rPr>
              <a:t>Pas une cuve. Pas un rapport ESG. Un playbook de résilience hydrique site-spécifique livré comme audit + dossier + mise en œuvre + monitoring + label.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E6F0FB"/>
                </a:solidFill>
              </a:rPr>
              <a:t>EcoDialysis · ANDCS × MIT Hacking Medicine · Paris 2026    ·    Partie 4    ·    19 / 53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Pourquoi pas juste une cuve 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Le fantasme de la cuve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« Installez juste une cuve sous l'osmose et réutilisez l'eau. »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Cette vision meurt au premier contact avec la centrale eau hospitalière.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Ce qu'une cuve ne peut pas faire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Ne peut pas caractériser le flux de rejet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Ne peut pas adapter les volumes à la demande non clinique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Ne peut pas monter le dossier EICH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Ne peut pas exploiter le réseau séparé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Ne peut pas passer la revue CLIN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Ne peut pas prouver les économies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Ne peut pas se déployer sur un GHT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Ce que fait EcoDialysis à la place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Audit — métrologie 4 points + factures + plans + inventaire OI.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Cartographie — voies vert/orange/rouge pour ce site précis.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Dimensionnement — stockage + réseau + traitement adaptés au profil de demande.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Dépôt — dossier ARS conforme EICH avec chaîne de validation.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Mise en œuvre — partenariat plombiers / intégrateurs / vendeurs OI.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Mesure — monitoring SaaS continu + vérification mensuelle.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Certification — label EcoDialysis par site, comparable.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Partie 4 · Produit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20 / 53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Architecture produit — audit · playbook · mise en œuvre · monitoring · label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1 · Audit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Visite site + données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Pose 4 compteurs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Analyse factures &amp; tarifs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Cartographie demande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Référentiel 4–6 sem.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8–18 k€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2 · Playbook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Carte vert / orange / rouge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Scénarios ROI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Brouillon dossier EICH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Registre des risques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Go / no-go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10–25 k€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3 · Mise en œuvre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Accompagnement appel d'offres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Coordination intégrateurs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Validation hygiène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Mise en service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Formation équipe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5–15 % du CAPEX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4 · Monitoring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Tableau de bord SaaS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4 points + conductivité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Vérification mensuelle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Reporting ARS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Alarmes &amp; carnet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600–1 400 €/mois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5 · Label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Certification EcoDialysis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Base benchmark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Audit annuel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Registre public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Effet réseau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3–8 k€ / an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Coin = audit. Répétabilité = playbook. Récurrence = monitoring. Réseau = label. Défense = base benchmark. [Pch] [Per] [S26]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Partie 4 · Produit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21 / 53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Écosystème équipement &amp;amp; fournisseurs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24071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Paysage fournisseur détaillé avec caveats &amp; rôles partenariats en Annexe A11.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634740.0"/>
          <a:ext cx="11277292" cy="2674620.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3"/>
              </a:tblGrid>
              <a:tr h="2674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Couche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Équipement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Fournisseurs référence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Point de contact EcoDialysis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</a:tr>
              <a:tr h="2674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Générateur dialyse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Machines d'hémodialyse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Fresenius, B. Braun, Baxter/Vantive, Nikkiso, Nipro, JMS, Quanta, Outset/Tablo, NxStage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Réglage Qd / HDF, sous-comptage énergie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74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Centrale traitement eau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Prétraitement + OI + boucle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B. Braun AQUAboss, Fresenius, intégrateurs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Métrologie 4 points, caractérisation rejet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674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Dialyseur + lignes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Membranes &amp; circuits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Asahi Kasei, Toray, Fresenius, B. Braun, Nipro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Scorecard achats (Phase 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74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Acide concentré / bicarbonate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Liquide + cartouche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Fresenius, B. Braun, Baxter, régional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Playbook distribution centralisée [S26]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674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Désinfection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Citrique, chaleur, peracétique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Bundle vendeur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Optimisation fréquence [Gem] [Ope]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74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Matériel réutilisation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Cuves, pompes, UV-C, anti-retour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Intégrateurs locaux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Dimensionnement, classes anti-retour (EA/EB/AA)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674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Métrologie &amp; IoT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Débit, conductivité, énergie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Endress+Hauser, Siemens, régional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Ingestion SaaS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74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Déchets &amp; consommables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DASRI/DAOM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Veolia, Suez, régional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Tri + réduction (Phase 3)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674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Futur / pilote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NeoKidney, AWAK, sorbant REDY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NextKidney, AWAK, R&amp;D vendeurs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Veille &amp; intégration pilote [Gem]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Partie 4 · Équipement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22 / 53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Maturité technologique — prêt / spécifique site / pilote seulement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24071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Matrice 18 lignes complète en Annexe A13. Sources : [Gem] [Ope] [S26]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634740.0"/>
          <a:ext cx="11277294" cy="2674620.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1042"/>
                <a:gridCol w="1611042"/>
                <a:gridCol w="1611042"/>
                <a:gridCol w="1611042"/>
                <a:gridCol w="1611042"/>
                <a:gridCol w="1611042"/>
                <a:gridCol w="1611042"/>
              </a:tblGrid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Levier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Maturité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Eau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Énergie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Déchets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Risque clinique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Phase EcoDialysis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Rejet OI → réutilisation non clinique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Prêt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Aucun (limite)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Phase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Remplacement OI moderne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Prêt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Aucun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Phase 1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Optimisation désinfection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Prêt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Validation vendeur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Phase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Récupération de chaleur (East Kent)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Prêt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Aucun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Phase 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Réduction Qd (500→400 ml/min)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Validation clinique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Phase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Acide concentré centralisé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Site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Faible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Phase 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Réutilisation routée par conductivité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Ingénierie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Phase 1–2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OI à récupération prétraitement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Site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−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Vendeur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Phase 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Réglage volume dialysat HDF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Validation clinique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Phase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Sorbant / portable (REDY, AWAK)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Pilote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Élevé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Veille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NeoKidney portable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Pilote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Élevé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Veille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Réutilisation dialysat usagé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Non déployable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Limite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Jamais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Partie 4 · Maturité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23 / 53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Modèle économique — audit · playbook · SaaS · succès · label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24071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Cinq lignes de revenus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Tarification indicative ; calibrée sur les premiers pilotes.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Canaux &amp; expansion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Direct : RSE / DD CHU, ingénierie biomédicale.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Déploiement GHT : un CH gagné → cluster suit.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Réseaux privés : AURA / Diaverum / NephroCare / chaînes régionales.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Partenariats fournisseurs : vendeurs OI &amp; générateurs intègrent l'audit EcoDialysis à la vente.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Partenaires subventions : Agences de l'Eau (par bassin), CEE (catégorie à confirmer), ADEME.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Pourquoi cela compose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Données audit → base benchmark → défensibilité.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Réutilisation playbook → expansion de marge.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Adoption label → effet réseau entre directeurs de néphrologie.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634740.0"/>
          <a:ext cx="11277294" cy="2674620.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8"/>
              </a:tblGrid>
              <a:tr h="38208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Ligne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Logique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Fourchette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</a:tr>
              <a:tr h="38208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Coin d'entrée, pilote payé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8–18 k€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08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Playbook + dossier EICH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Par site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10–25 k€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38208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Accompagnement mise en œuvre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% du CAPEX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5–15 %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08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Monitoring SaaS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Récurrent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600–1 400 €/mois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38208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Honoraires succès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% des économies vérifiées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10–20 % an 1–3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09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Label + benchmark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Annuel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3–8 k€/an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Partie 4 · Modèle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24 / 53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Carte des acheteurs — qui signe, qui paie, qui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24071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Marché de référence : ~2 965 établissements de santé · ~1 100–1 200 unités de dialyse · 51 700 patients · 77 % en centre/UDM. [Per]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634740.0"/>
          <a:ext cx="11277295" cy="2674620.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44577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Acheteur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Douleur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Unité de décision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Coin d'entrée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Expansion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</a:tr>
              <a:tr h="44577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CHU · grand public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Reporting + réputation + raréfaction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RSE/DD + bioméd + direction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Audit + pilote vitrine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Autres services (stérilisation, blanchisserie)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CH / GHT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Raréfaction multi-sites + OPEX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Direction GHT + technique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Un CH pilote → accord-cadre GHT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Déploiement cluster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44577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Réseau dialyse privé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Compression de marge + ESG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Directeur médical + ops + finance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Audit cadre réseau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Déploiement transfrontalier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Unité indépendante moyenne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Sensibilité OPEX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Médecin propriétaire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Audit + SaaS léger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Référence pour unités similaires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44577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Neuf / rénovation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Fenêtre conception-intégrée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Architecte + bioméd + achats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Design-in à la Ashford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Partenariats architectes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Partie 4 · Acheteurs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25 / 53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4000">
                <a:solidFill>
                  <a:srgbClr val="FFFFFF"/>
                </a:solidFill>
              </a:rPr>
              <a:t>Partie 5 — Pilote, risque &amp;amp; demande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E6F0FB"/>
                </a:solidFill>
              </a:rPr>
              <a:t>Trois pilotes. Six mois. Un moteur à dossiers répétable pour la France.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E6F0FB"/>
                </a:solidFill>
              </a:rPr>
              <a:t>EcoDialysis · ANDCS × MIT Hacking Medicine · Paris 2026    ·    Partie 5    ·    26 / 53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Plan trois pilotes — CHU · GHT · réseau privé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Pilote A · CHU vitrine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Cible : AP-HM / CHU Toulouse / CHU Lyon.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~150 patients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Réutilisation complète + récup. chaleur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Preuve dossier EICH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Voie publication SFNDT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6 mois 80–120 k€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Pilote B · GHT taille moyenne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Cible : CH en bassin stressé (Adour-Garonne / Loire).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~80 patients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Réutilisation + cadrage modernisation OI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Accord-cadre GHT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Co-financement Agence de l'Eau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6 mois 60–90 k€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Pilote C · Réseau privé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Cible : AURA / Diaverum / chaîne régionale.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3 sites, ~100 patients chacun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Test playbook répétable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Déploiement SaaS + label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Option déploiement réseau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9 mois 140–200 k€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Les trois ensemble testent : faisabilité technique, répétabilité du dossier, et scalabilité par canal.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Partie 5 · Pilotes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27 / 53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Ce dont nous avons besoin de chaque hôpital pilote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Accès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Centrale eau &amp; local OI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Plans techniques (eau, évacuation, électricité)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Planning séances UDM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Carte demande non clinique (toilettes, nettoyage, CTA, jardin)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Autorisation pose 4 compteurs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Données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12 mois factures eau + assainissement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Inventaire OI + générateurs + âge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Factures énergie zone traitement eau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Journal séances (sessions/an par machine)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Journaux maintenance &amp; désinfection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Personnes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Référent bioméd / services techniques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Référent hygiène / CLIN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Sponsor direction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Référent médical (néphrologie)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Contact pré-instruction ARS / préfecture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Aucune donnée clinique. Aucune donnée patient. L'hôpital reste responsable du traitement et propriétaire opérationnel.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Partie 5 · Besoin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28 / 53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Ce que nous livrons en 30 jours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Jour 1–10 · Éco-audit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Visite site + entretiens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Pose 4 compteurs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Analyse factures + plans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Inventaire OI + générateurs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Jour 10–20 · Cartographie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Voies vert/orange/rouge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Profil demande vs profil rejet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Trois scénarios de réutilisation dimensionnés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Jour 20–25 · ROI scénarios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Bas / central / haut rejet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Taux de capture 50 / 70 / 90 %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Sensibilité tarif + CAPEX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Option empilement subventions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Jour 25–30 · Pack décision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Registre des risques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Brouillon dossier EICH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Recommandation go / no-go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Calendrier mise en œuvre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Sortie : dossier A4 + note conseil 1 page + tableau de bord SaaS référentiel.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Partie 5 · Livraison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29 / 53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Ce que nous refusons de faire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Limites que nous ne franchirons pas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Aucun contact patient, jamais.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Aucune réutilisation alimentant la production d'eau de dialyse.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Aucune réutilisation de dialysat usagé.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Aucune garantie d'approbation ARS — chaque dossier est local.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Aucune allégation CNAM / tarif non vérifiée.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Aucune neutralité carbone — adaptation hydrique d'abord.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Aucun calcul boîte noire — méthodologie publiée.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Aucune recommandation de verrouillage vendeur sans preuve comparative.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Comment cela se traduit en contrôle des allégations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Encadré méthodologie sur chaque rapport.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Objectif, périmètre, hypothèses, incertitude. [TSP]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Langage caveat standardisé.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Liste d'allégations interdites maintenue en Annexe A16.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Partie 5 · Discipline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30 / 53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KPI &amp;amp; critères de succès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KPI opérationnels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L/séance rejet — mesuré en continu.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L/séance substitué — mesuré au compteur réutilisation.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kWh/séance — OI + boucle dialysat.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Produit de désinfection évité.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Excursions conductivité = 0.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KPI dossier &amp; confiance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Délai au dossier (cible ≤ 60 jours).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Taux d'approbation ARS.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Conformité carnet sanitaire.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Vérification mensuelle à l'heure.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Nombre de centres labellisés EcoDialysis.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Partie 5 · KPIs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31 / 53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Risque &amp;amp; confiance — ce qui peut mal tourner, comment nous protégeons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24071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Registre complet avec sources en Annexe A14.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634740.0"/>
          <a:ext cx="11277292" cy="2674620.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3"/>
              </a:tblGrid>
              <a:tr h="29718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Risque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Pourquoi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Mitigation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Propriétaire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</a:tr>
              <a:tr h="29718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Refus / retard 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Pas de déploiement sans dossier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Pré-dépôt précoce ; dossier EICH templatisé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EcoDialysis + direction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Biofilm / interconnexion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Sécurité patient &amp; personnel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Réseau séparé, anti-retour (EA/EB/AA), surveillance, arrêt d'urgence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Bioméd + hygiène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9718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Inadéquation offre/demande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Boucle réutilisation vide = pas de ROI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Dimensionnement stockage + cartographie demande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EcoDialysis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Tarif faible affaiblit ROI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Eau/assainissement faible = mauvais retour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Triage site ; refus sites faible ROI ; empilement subventions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EcoDialysis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9718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Coût rétrofit CAPEX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Dépendant de la configuration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Triage site ; option design-in (Ashford)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Hôpital + EcoDialysis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Surclamage ESG / carbone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Perte de confiance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Encadré méthodologique ; liste de refus ; caveats publiés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EcoDialysis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9718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Perception patient / personnel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Licence sociale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Kit de communication + clarté de la limite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Direction + EcoDialysis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Verrouillage fournisseur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Risque de biais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Preuve comparative requise, specs neutres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EcoDialysis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Partie 5 · Risque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32 / 53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Défensibilité — cinq douves composantes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Base benchmark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Chaque audit alimente un benchmark eau/énergie spécifique France indisponible ailleurs.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Bibliothèque playbooks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Dossiers EICH répétables raccourcissent chaque nouveau projet — marge compose.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Preuves source-labellisées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Chaque allégation reliée par chip à une source primaire — défendable face aux consultants.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Label EcoDialysis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Effet réseau entre directeurs de néphrologie et examinateurs ARS.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Scorecard fournisseurs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Levier achats à mesure que nous nous étendons aux dispositifs et consommables.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Partie 5 · Défense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33 / 53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Expansion future — eau d'abord, puis quatre couches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Eau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Rejet OI, récupération chaleur, réglage Qd, désinfection.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Énergie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Remplacement OI, échangeurs de chaleur, optimisation planning.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Consommables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Centralisation acide concentré, scorecard dialyseur, emballages.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Achats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Scoring durabilité fournisseurs avec logique TSP / IDMD. [TSP] [Ird]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Label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EcoDialysis comme standard reconnu en néphrologie en France &amp; 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Partie 5 · Expansion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34 / 53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</p:txBody>
      </p:sp>
      <p:sp>
        <p:nvSpPr>
          <p:cNvPr id="5" name="TextBox 4"/>
          <p:cNvSpPr txBox="1"/>
          <p:nvPr/>
        </p:nvSpPr>
        <p:spPr>
          <a:xfrm>
            <a:off x="457200" y="3749039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E6F0FB"/>
                </a:solidFill>
              </a:rPr>
              <a:t>Les hôpitaux n'ont pas besoin d'un autre tableau ESG.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E6F0FB"/>
                </a:solidFill>
              </a:rPr>
              <a:t>EcoDialysis · ANDCS × MIT Hacking Medicine · Paris 2026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4000">
                <a:solidFill>
                  <a:srgbClr val="FFFFFF"/>
                </a:solidFill>
              </a:rPr>
              <a:t>Annexe — bibliothèque de preuves diligence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E6F0FB"/>
                </a:solidFill>
              </a:rPr>
              <a:t>23 sources extraites · 0 échec d'extraction · chaque fait clé tracé à un document primaire.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E6F0FB"/>
                </a:solidFill>
              </a:rPr>
              <a:t>EcoDialysis · ANDCS × MIT Hacking Medicine · Paris 2026    ·    Annexe    ·    36 / 53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A1 · Carte des sources — 23 sources extraites, zéro échec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24071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Légende fiabilité — Haute : réglementation, gouvernement, société savante. Moyenne-haute : corporate officiel, pairs. Moyenne : synthèse secondaire. Faible : exclue.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634740.0"/>
          <a:ext cx="11277295" cy="2674620.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14859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Chip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Qualité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</a:tr>
              <a:tr h="14859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DR-France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EcoDialysis_Perplexity.pdf (+ .docx)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Synthèse stratégie deep-research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Moyenne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859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Gem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DR-Tech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Clinical and Technical Advancements in Dialysis_Gemini.pdf (+ .docx)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Synthèse technique deep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Moyenne-haute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4859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DR-Water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Water Sustainability Practices in Dialysis_OpenAI.pdf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Synthèse deep-research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Moyenne-haute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859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S23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SFNDT-2023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SFNDT_guide complet-VF-HD-2_260526.pdf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Guide société savante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Haute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4859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SFNDT-2026-L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Guide_des_bonnes_pratiques_en_néphrologie_verte_Ve_260526.pdf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Guide société savante (long)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Haute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859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S26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SFNDT-2026-S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Guide_de_la_néphrologie_verte_Version_courte_2026_260526.pdf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Guide société savante (court)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Haute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4859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Gov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Gov-Health-Roadmap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Planification écologique du système de santé.pdf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Feuille de route gouvernementale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Haute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859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TSP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TSP-Health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TSP-Decarbonons-les-industries-des-medicaments-RF.pdf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Rapport The Shift Project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Haute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4859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TSP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TSP-Pathway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[PPJS] Guide méthodologique pour l'évaluation carbone des parcours de soin.pdf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Guide méthodologique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Haute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859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TSP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TSP-Med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240404-Rapport-Decarbonons-lAutonomie-The-Shift-Project-1-1.pdf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Rapport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Moyenne-haute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4859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Ird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IRDES-Sustainability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IRDES · Soutenabilité environnementale des systèmes de santé.pdf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Revue de littérature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Haute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859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HCW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HCWH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L'empreinte climatique du secteur de la santé Health Care Without Harm.pdf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Analyse globale ONG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Moyenne-haute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4859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HCW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Global-Green-Health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Green health how to decarbonise global healthcare systems.pdf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Rapport global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Moyenne-haute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859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HCW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Climate-friendly-healthcare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Climate-friendly healthcare reducing the impacts of the healthcare sector.pdf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Rapport global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Moyenne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4859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Pitch-v3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EcoDialysis_Pitch_v3.pptx + .pdf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Pitch interne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Haute (narratif)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859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Pch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Base-v1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EcoDialysis Pitch_v1.html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Base HTML interne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Style interne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4859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Vendor-block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Pages corporate / réglementaires officielles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Corporate &amp; régl.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Moy-haute à Haute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Annexe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37 / 53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A2 · Registre des chips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Per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Deep-research marché &amp; GTM France (Perplexity).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Gem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Deep-research technologie (Gemini).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Ope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Deep-research durabilité eau (OpenAI).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S23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Guide SFNDT 2023 néphrologie verte.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S26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Guides SFNDT 2026 long &amp; court.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Gov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Planification écologique du système de santé.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TSP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The Shift Project (santé, parcours, autonomie).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Ird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Revue littérature IRDES.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HCW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Health Care Without Harm + global green health.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Pch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Base pitch EcoDialysis v1 / v3.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Annexe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38 / 53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A3 · Table DR-Water — 18 faits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24071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Chip primaire : [Ope]. Confirmation croisée : [Gem].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634740.0"/>
          <a:ext cx="11277294" cy="2674620.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8"/>
              </a:tblGrid>
              <a:tr h="140769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Fait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Valeur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</a:tr>
              <a:tr h="140769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Récupération rejet OI Canterbury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800 L/h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0769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Économie annuelle Canterbury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~7 500 £/an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40769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Conception-intégrée Ashford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~2 500 £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0769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Économie eau Bristol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13 140 m³/an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40769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Économie annuelle Bristol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&gt; 15 000 £/an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0769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Échangeurs chaleur East Kent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0,86 kWh/traitement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40769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Récupération annuelle projetée East Kent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27 905 kWh/an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0769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Eau agrégée économisée ANZSN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&gt; 160 000 L/an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40769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Électricité agrégée économisée ANZSN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6,4 MWh/an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0769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Acide citrique évité ANZSN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720 L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40769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Économies produit ANZSN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~2 400 AU$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0769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OI moderne AU eau / traitement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357 L (vs 548 L)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40769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OI moderne AU énergie / traitement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3,1 kWh (vs 7,2 kWh)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0769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Moyenne 20 centres Espagne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476,5 L/séance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40769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Centres ouverts quotidiennement Espagne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430,20 L/HD · 10,82 kWh/HD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0769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Centres 3×/sem. Espagne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629,81 L/HD · 16,79 kWh/HD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40769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Benchmarks nommés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Bendigo · Barwon · Queen Elizabeth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077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Voie future / pilote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REDY · NeoKidney · AWAK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Annexe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39 / 53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A4 · Table DR-France — 12 faits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24071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Chip primaire : [Per]. Caveat carbone aligné méthodologie [TSP].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634740.0"/>
          <a:ext cx="11277294" cy="2674620.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8"/>
              </a:tblGrid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Fait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Valeur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Patients dialysés en France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~51 700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Part en centre / UDM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~77 %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Eau d'alimentation par séance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~400–500 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Fraction rejet OI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50–70 %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Premiers adoptants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CHU / CHRU + grands privés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Établissements de santé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~2 965 (selon contexte)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Unités de dialyse (estim.)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~1 100–1 200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Centre de référence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100 patients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Séances / patient / 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Total séances / an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15 600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Hypothèse rejet / séance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270 L (bas 220 · haut 320)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Volume rejet de référence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~4 200 m³/an · ~1,0–1,1 tCO₂e caveat eau-seule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Annexe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40 / 53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A5 · Table DR-Tech — 15 faits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24071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Chip primaire : [Gem]. Renforce la matrice de maturité A13.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634740.0"/>
          <a:ext cx="11277294" cy="2674620.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7"/>
              </a:tblGrid>
              <a:tr h="167163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Fait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</a:tr>
              <a:tr h="167163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Taxonomie : réutilisation · optimisation OI · désinfection · récupération chaleur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7163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Soutient le benchmark multicentrique 476,5 L/séance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67163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Voie architecture OI à haut taux de récupération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7163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Logique de routage par conductivité pour décisions de réutilisation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67163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Consolide les preuves Canterbury / Ashford / Bristol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7163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Confirme la logique d'optimisation désinfection ANZSN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67163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Cas de récupération chaleur (East Kent, Newcastle)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7163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Distingue voies non cliniques à faible risque vs voies à plus haut risque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67163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Systèmes sorbants / portables comme voie émergente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7163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Statut pilote NeoKidney et AWAK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67163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Barrières coût rétrofit et gouvernance identifiées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7163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Recommande une feuille de route à étapes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67163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Renforce métrologie et contrôles de procédé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7163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Positionne la réutilisation du dialysat usagé comme non-première-vague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67175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Soutient une stratification par niveau de preuve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Annexe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41 / 53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A6 · SFNDT 2023 — cadre néphrologie verte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24071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Chip primaire : [S23]. Ancrage crédibilité clinique.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634740.0"/>
          <a:ext cx="11277294" cy="2674620.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7"/>
              </a:tblGrid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Insight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Cadre d'action structuré néphrologie verte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Leviers eau · énergie · déchets intégrés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Gouvernance et appropriation d'équipe soulignées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Formation et culture de mise en œuvre centrales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Orientation achats et cycle de vie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Transition opérationnelle attentive aux risques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Hiérarchie de réduction empreinte dialyse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Logique mesure d'abord (correspond à l'architecture EcoDialysis)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Approche amélioration continue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Co-cadrage qualité-sécurité de la durabilité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Suivi multi-domaines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Base de listes de contrôle actionnables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Annexe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42 / 53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A7 · SFNDT 2026 guide long — 20 faits opérationnels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24071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Chip primaire : [S26]. Correspondance la plus proche du playbook opérationnel EcoDialysis.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634740.0"/>
          <a:ext cx="11277294" cy="2674620.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8"/>
              </a:tblGrid>
              <a:tr h="1273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Fait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Quantité si dispo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</a:tr>
              <a:tr h="1273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Fiches-actions détaillées dialyse &amp; néphrologie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73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Voie réduction Qd avec économies / séance quantifiées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voir #3, #4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273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Économies dialysat 500→400 ml/min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~24 L/séance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73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Économie eau prétraitée dans le même contexte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~60–100 L/séance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273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Contexte évaluation Qd multicentrique française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73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Optimisation HDF &amp; compromis volume dialysat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273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Distribution centralisée acide concentré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déchets + conso 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73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Section dédiée réutilisation rejet OI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273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Cas français : Clinique Saint-Exupéry Toulouse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73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Économie Saint-Exupéry rapportée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~1 128 m³/an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273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Investissement / retour Saint-Exupéry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~30 k€ · 5–6 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73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AP-HM Marseille études potentiel plus large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273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Contraintes pratiques stockage (durée, temp, distance)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73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Exigences réseau séparé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273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Pas de saut direct vers réutilisation à haut risque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limite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73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Obligations de gestion énergétique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273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Voies de réduction des déchets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73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Actions personnel / organisationnelles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127362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Logique RSE et communication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738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Réutilisable comme playbook de mise en œuvre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Annexe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43 / 53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A8 · Gouvernement / réglementation — EICH &amp;amp; Décret 2024-796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Décret n°2024-796 · en vigueur 1er sept. 2024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Cadre EICH = Eaux Impropres à la Consommation Humaine.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Couvre les établissements sensibles dont la santé.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Autorise la réutilisation non clinique sous dossier ARS / préfecture.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Réseau séparé obligatoire.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Dispositifs anti-retour requis.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Programme de signalisation requis.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Entrées au carnet sanitaire requises.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Plan de surveillance &amp; maintenance requis.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Arrêt d'urgence et bascule vers potable requis.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Aucune réutilisation à contact patient autorisée.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Carte des parties prenantes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ARS — validation autorité santé.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Préfecture — autorisation administrative.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Agence de l'Eau — co-financement par bassin.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CLIN / hygiène — comité interne de sécurité.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Direction — sponsor administratif.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Services techniques + bioméd — propriétaires opérationnels.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Médical + néphrologie — validation clinique.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Incertitudes restantes (A16) : voie ARS exacte par bassin · fréquence surveillance · interaction tarifaire · éligibilité Agence de l'Eau · catégorie CEE. Sources : [Gov] [S26]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Annexe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44 / 53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000">
                <a:solidFill>
                  <a:srgbClr val="0A2A55"/>
                </a:solidFill>
              </a:rPr>
              <a:t>A9 · Contexte décarbonation système de santé — pourquoi l'eau est adaptation d'abord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Contexte macro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Santé &gt; 8 % de l'empreinte GES nationale. [Gov] [HCW]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~50 MtCO₂e ordre de grandeur.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Offre de soins ~45 % · médicaments &amp; produits ~55 %.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Scope 3 achats domine.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Axes feuille de route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Bâtiments &amp; énergie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Industries / produits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Achats durables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Soins éco-responsables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Déchets · transport · numérique · formation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Source : [Gov] Planification écologique.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Pourquoi l'eau est adaptation d'abord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La résilience hydrique est un enjeu de continuité, pas une métrique ESG.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Tarif &amp; raréfaction touchent l'OPEX immédiatement.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Poids carbone de l'eau réel mais secondaire (1,0–1,1 tCO₂e sur 4 200 m³). [Per] [TSP]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Dispositifs médicaux &amp; consommables comptent pour le Scope 3 — adressés en Phase 3 EcoDialysis.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Cadrage résilience système aligné TSP &amp; IRDES. [TSP] [Ird]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Annexe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45 / 53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A10 · Écosystème équipement — environnemental, données, intervention, limite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4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49"/>
              </a:tblGrid>
              <a:tr h="314661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Couche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Enjeu environnemental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Données requises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Intervention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Limite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Propriétaire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</a:tr>
              <a:tr h="314661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Générateur dialyse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Réglage énergie + eau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Séances/machine, paramètres Qd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Réduction Qd, réglage HDF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Validation clinique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Bioméd + néphro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661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Centrale eau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Volume rejet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Débits entrée, perméat, rejet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OI moderne, routage conductivité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Validation vendeur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Services techniques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314661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Skid OI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L+kWh / traitement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Âge, modèle, performance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Remplacement / rétrofit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Vendeur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Bioméd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661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Prétraitement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Chimie, contre-lavage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Cycles changement filtres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Optimisation, OI à récupération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Vendeur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Bioméd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314661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Boucle dialysat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Cycles désinfection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Fréquence citrique / chaleur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Optimisation, réduction chimie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Validation vendeur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Bioméd + hygiène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661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Membranes dialyseur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Déchet à usage unique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Scorecard fournisseur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Scoring achats (Phase 3)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Clinique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Direction + médical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314661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Lignes / aiguilles / cathéters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Déchet à usage unique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Volume + fournisseur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Emballage + achats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Clinique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Pharma + achats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661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Acide concentré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Logistique + emballage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Local vs central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Distribution centralisée [S26]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Hygiène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Services techniques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314661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Bicarbonate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Déchet cartouche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Consommation / séance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Scorecard achats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Clinique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Pharma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661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Soluté / désinfectants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Chimie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Volumes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Optimisation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Hygiène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Pharma + hygiène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314661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Emballages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Carton / plastique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Audit fournisseur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Scorecard achats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Logistique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Achats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661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Déchets DASRI / DAOM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Flux fort carbone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Taux de tri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Tri + réduction [Ird]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Hygiène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Services généraux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314661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Capteurs / compteurs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Inventaire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Pose 4 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EcoDialysis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661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Cuves / pompes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Matériel réutilisation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Profil demande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Dimensionnement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Ingénierie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Intégrateur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314661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UV-C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Polissage réutilisation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Débit + microbio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Boucle réutilisation en ligne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Vendeur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Intégrateur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664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Anti-retour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Risque interconnexion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Plan réseau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EA/EB/AA selon usage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Réglementaire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Plomberie + hygiène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Annexe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46 / 53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A11 · Paysage fournisseurs (vérifier pertinence locale)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334327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Société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Catégorie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Produits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Levier EcoDialysis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Caveat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</a:tr>
              <a:tr h="334327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Fresenius Medical Care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Générateur + OI + dialyseur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5008/6008, AquaA/AquaB, dialyseurs, NxStage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OI moderne, réglage générateur, achats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Neutralité vendeur requise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4327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B. Braun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Générateur + eau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Dialog, AQUAboss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Centrale eau, réutilisation rejet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334327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Baxter / Vantive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Générateur + DP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Artis, série AK ; DP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Réglage générateur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Spin-off récent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4327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Nipro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Générateur + dialyseur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Surdial, dialyseurs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Scorecard achats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Présence UE variable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334327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Nikkiso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Générateur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DBB-EXA, systèmes eau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Réglage générateur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4327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Asahi Kasei Medical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Dialyseur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Membranes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Achats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334327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Toray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Dialyseur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Membranes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Achats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4327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JMS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Dialyseur + lignes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Produits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Achats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Présence régionale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334327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Quanta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Générateur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SC+ portable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Nouvel entrant low-water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Échelle pilote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4327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Outset / Tablo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Générateur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Tablo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Alternative eau-légère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US-centré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334327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NextKidney (NeoKidney)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Futur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Portable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Veille &amp; pilote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Pré-déploiement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4327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AWAK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Futur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Sorbant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Veille &amp; pilote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Pré-déploiement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334327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Endress+Hauser / 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Métrologie / IoT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Débit, conductivité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Couche données SaaS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4327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Veolia / Suez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Eau &amp; déchets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Exploitant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Matériel réutilisation, audit déchets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Risque biais → neutralité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334335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SNITEM / C2DS / AFNOR SPEC 2313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Cadre achats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IDMD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Alignement scorecard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Annexe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47 / 53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A12 · Modèle financier — scénarios &amp;amp; sensibilités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24071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Scénario rejet × taux de capture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Tous chiffres m³/an pour le centre de référence 100 patients. [Per]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Sensibilité tarif &amp; retour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Ancrage Saint-Exupéry : ~1 128 m³, ~30 k€, retour 5–6 ans. [S26]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Ce qui ne peut pas être quantifié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Catégorie CEE exacte et équivalence €/MWh pour réutilisation eau.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Co-financement Agence de l'Eau par bassin et projet.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Impact tarif CNAM (aucun supposé — caveat requis).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Éligibilité crédit carbone (non revendiquée).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Règle de décision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Refuser sites avec tarif &lt; 1,80 €/m³ sauf subvention ou risque pénurie.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Préférer design-in au rétrofit quand fenêtre ouverte (modèle Ashford).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B1A2E"/>
                </a:solidFill>
              </a:rPr>
              <a:t>• Coupler réutilisation avec remplacement OI quand OI &gt; 10 ans.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634740.0"/>
          <a:ext cx="11277295" cy="2674620.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668655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Rejet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m³/an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Capture 50 %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70 %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90 %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</a:tr>
              <a:tr h="668655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Bas 220 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3 432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1 716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2 402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3 089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8655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Central 270 L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4 212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2 106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2 948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3 791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668655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Haut 320 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4 992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2 496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3 494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4 493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Annexe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48 / 53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A13 · Matrice complète de maturité technologique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88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3032"/>
                <a:gridCol w="1253032"/>
                <a:gridCol w="1253032"/>
                <a:gridCol w="1253032"/>
                <a:gridCol w="1253032"/>
                <a:gridCol w="1253032"/>
                <a:gridCol w="1253032"/>
                <a:gridCol w="1253032"/>
                <a:gridCol w="1253032"/>
              </a:tblGrid>
              <a:tr h="28153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Levier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Maturité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Preuve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Eau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Énergie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Déchets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Capex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Régl.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</a:tr>
              <a:tr h="28153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Rejet OI non clinique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Prêt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UK + AU + 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Moy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Dossier EICH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53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Remplacement OI moderne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Prêt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Mesure AU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Élevé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Vendeur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8153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Récupération chaleur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Prêt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East Kent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Moy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53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Optimisation désinfection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Prêt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ANZSN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Faible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Vendeur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8153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Réutilisation routée conductivité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Synthèse tech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Faible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1–2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53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OI à récupération prétraitement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Site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Synthèse tech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−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Moy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Vendeur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8153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Réduction Qd (500→400)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SFNDT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Faible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Clinique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53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Réglage volume HDF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Site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SFNDT 2026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Faible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Clinique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8153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Acide concentré centralisé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SFNDT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Moy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Hygiène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53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Forme planning (quotidien vs 3×/sem)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Site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Espagne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Faible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Clinique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8153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Réutilisation toilettes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Prêt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UK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Faible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EICH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53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Nettoyage &amp; extérieur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Prêt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UK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Faible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EICH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8153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Appoint CTA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Industrie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Moy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53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Prélavage blanchisserie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Site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Inter-secteur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Moy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EICH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8153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Alim. stérilisation (non-final)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Inter-secteur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Moy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EICH + hygiène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53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Sorbant / portable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Pilote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R&amp;D vendeurs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Élevé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Veille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281538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NeoKidney portable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Pilote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R&amp;D vendeurs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+++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Élevé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Veille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556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Réutilisation dialysat usagé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Limite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Interdit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Jamais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Annexe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49 / 53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A14 · Registre des risques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41148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Risque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Pourquoi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Mitigation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Propriétaire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Preuve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</a:tr>
              <a:tr h="41148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Refus / retard 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Pas de réutilisation sans dossier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Pré-dépôt, dossier EICH templatisé, jurisprudence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EcoDialysis + direction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[Gov] [S26]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Biofilm / infection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Sécurité patient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Polissage UV-C, anti-stagnation, surveillance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Bioméd + hygiène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[S26] [Gem]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41148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Interconnexion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Contamination potable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Réseau séparé, anti-retour EA/EB/AA, signalisation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Plomberie + hygiène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[Gov]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Excursion conductivité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Dérive qualité réutilisation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Routage en ligne vers égout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Bioméd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[Gem]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41148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Inadéquation offre/demande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Boucle vide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Dimensionnement stockage, cartographie demande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EcoDialysis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[S26] [Ope]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Dérapage CAPEX rétrofit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Risque ROI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Triage site, option design-in (Ashford)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Direction + EcoDialysis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[Ope]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41148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Tarif faible affaiblit ROI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Retour &gt; 7 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Triage site, empilement subventions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EcoDialysis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[Per]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Retards achats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Mois ajoutés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Accords-cadres, voie GHT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Direction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41148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Surclamage ESG / carbone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Réputation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Encadré méthodologie, liste de contrôle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EcoDialysis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[TSP]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Perception patient / personnel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Licence sociale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Kit communication, clarté de limite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Direction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[S26]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41148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Partage propriété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Dérive opérationnelle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RACI par site, contrats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EcoDialysis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Verrouillage fournisseur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Risque biais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Specs neutres, preuve comparative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EcoDialysis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[TSP]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Annexe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50 / 53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A15 · Annexe mise en œuvre pilote — semaine par semaine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486294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Semaine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Livrables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Données hôpital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Approbations</a:t>
                      </a:r>
                    </a:p>
                  </a:txBody>
                  <a:tcPr>
                    <a:solidFill>
                      <a:srgbClr val="0A2A55"/>
                    </a:solidFill>
                  </a:tcPr>
                </a:tc>
              </a:tr>
              <a:tr h="486294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Mobilisation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Kick-off, NDA, lettre sponsor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Org chart, contacts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Direction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6294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1–2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Audit site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Visite, revue plans, inventaire OI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Plans, journaux OI, 12 mois factures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Services techniques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486294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2–3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Pose métrologie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4 compteurs + conductivité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Accès plomberie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Bioméd + hygiène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6294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3–7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Référentiel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Enregistrement continu, cartographie demande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Planning séances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486294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7–9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Conception scénarios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Carte vert/orange/rouge, dimensionnement, ROI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Tarifs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Direction + technique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6294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9–12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Brouillon dossier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Dossier EICH, analyse risque, chaîne de validation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Hygiène + direction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486294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12–14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Pré-instruction 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Revue informelle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6294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14–18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Mise en œuvre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Plomberie, cuve, UV-C, anti-retour, SaaS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Accès site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CLIN, ARS final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486294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18–20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Mise en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Tests, formation, signalisation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Temps personnel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Bioméd + hygiène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6300"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20–24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Vérification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Rapports mensuels, bundle KPI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 wrap="square" lIns="36000" rIns="36000" tIns="18000" bIns="18000"/>
                    <a:lstStyle/>
                    <a:p>
                      <a:r>
                        <a:rPr sz="1000" b="0">
                          <a:solidFill>
                            <a:srgbClr val="0B1A2E"/>
                          </a:solidFill>
                        </a:rPr>
                        <a:t>Direction + finance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Annexe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51 / 53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A16 · Contrôle des allégations — autorisées vs interdites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Allégations autorisées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« X m³ de rejet OI captés ce mois (compteur M3). »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« Y m³ substitués en usages non cliniques (compteur M4). »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« Z € économisés selon vérification des factures locales. »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« N cycles de désinfection réduits — chimie évitée. »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« Dossier conforme EICH déposé à l'ARS le [date]. »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« Carnet sanitaire à jour ; zéro excursion de conductivité. »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« X kWh économisés par remplacement OI (mesuré). »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E3C7A"/>
                </a:solidFill>
              </a:rPr>
              <a:t>Allégations interdites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« Neutre carbone » — jamais.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« Impact zéro » — jamais.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« Approuvé ARS sur chaque site » — décision locale.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« Eau patient réutilisée » — jamais.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« Dialysat usagé recyclé » — jamais.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« Équivalent à X voitures hors route » sans divulgation méthodo TSP.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« Éligible CEE / Agence de l'Eau » sans confirmation écrite.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B1A2E"/>
                </a:solidFill>
              </a:rPr>
              <a:t>• « Économise N € à l'hôpital » sans vérification factures.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B1A2E"/>
                </a:solidFill>
              </a:rPr>
              <a:t>Encadré méthodologie obligatoire sur chaque rapport : objectif, périmètre, hypothèses, incertitude, qualité données, caveats. [TSP]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Annexe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52 / 53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400">
                <a:solidFill>
                  <a:srgbClr val="0A2A55"/>
                </a:solidFill>
              </a:rPr>
              <a:t>Annexe I · Registre complet des sources (ancres chips)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97280" cy="45000"/>
          </a:xfrm>
          <a:prstGeom prst="rect">
            <a:avLst/>
          </a:prstGeom>
          <a:solidFill>
            <a:srgbClr val="2E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7295" cy="5349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[Per] DR-France · Perplexity EcoDialysis_Perplexity.pdf (+ .docx) — marché France, ~51 700 patients, 77 % en centre/UDM, modèle de référence. Qualité : Moyenne.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[Gem] DR-Tech · Gemini Clinical and Technical Advancements in Dialysis_Gemini.pdf (+ .docx) — taxonomie technologique, routage conductivité, support matrice maturité. Qualité : Moyenne-haute.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[Ope] DR-Water · OpenAI Water Sustainability Practices in Dialysis_OpenAI.pdf — Canterbury, Bristol, Ashford, East Kent, ANZSN, OI moderne vs ancienne AU, 20 centres Espagne. Qualité : Moyenne-haute.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[S23] SFNDT 2023 SFNDT_guide complet-VF-HD-2_260526.pdf — cadre néphrologie verte, mesure d'abord, gouvernance. Qualité : Haute.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[S26] SFNDT 2026 Guide_des_bonnes_pratiques_en_néphrologie_verte_Ve_260526.pdf + Guide_de_la_néphrologie_verte_Version_courte_2026_260526.pdf — économies Qd, cas Saint-Exupéry, AP-HM, playbook réutilisation rejet OI. Qualité : Haute.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[Gov] Gouvernement / réglementation Planification écologique du système de santé.pdf + Décret n°2024-796 (12 juillet 2024, en vigueur 1er sept. 2024, EICH). Qualité : Haute.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[TSP] The Shift Project TSP-Decarbonons-les-industries-des-medicaments-RF.pdf · [PPJS] Guide méthodologique pour l'évaluation carbone des parcours de soin.pdf · 240404-Rapport-Decarbonons-lAutonomie-The-Shift-Project-1-1.pdf. Qualité : Haute.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[Ird] IRDES La soutenabilité environnementale des systèmes de santé. Une revue de littérature sur l'empreinte écologique des systèmes de santé. Qualité : Haute.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[HCW] Health Care Without Harm + Global Green Health L'empreinte climatique du secteur de la santé Health Care Without Harm.pdf + Green health how to decarbonise global healthcare systems.pdf + Climate-friendly healthcare reducing the impacts of the healthcare sector on the world's climate.pdf. Qualité : Moyenne-haute.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B1A2E"/>
                </a:solidFill>
              </a:rPr>
              <a:t>[Pch] Base pitch EcoDialysis_Pitch_v3.pptx + EcoDialysis-Pitch_v3.pdf + EcoDialysis Pitch_v1.html — narratif interne, positionnement, ossature GTM. Qualité : Haute (narratif), base style interne.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029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000">
                <a:solidFill>
                  <a:srgbClr val="56698A"/>
                </a:solidFill>
              </a:rPr>
              <a:t>EcoDialysis · ANDCS × MIT Hacking Medicine · Paris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92240"/>
            <a:ext cx="2103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000">
                <a:solidFill>
                  <a:srgbClr val="56698A"/>
                </a:solidFill>
              </a:rPr>
              <a:t>Annexe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56698A"/>
                </a:solidFill>
              </a:rPr>
              <a:t>53 / 53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