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2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45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We're team EcoDialysis, and our bet is that the next decade of healthcare sustainability will be won in the boiler rooms · not the boardrooms. We'll show you why dialysis is the perfect place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Dialysis keeps 52,000 French patients alive · but every four-hour session pours roughly 250 liters of clean, treated water straight down the drain. That's the reverse-osmosis reject stream, and across France's in-center units it adds up to millions of cubic meters of potable water wasted every year for zero clinical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timing is unique. Plan Eau 2023 made water resilience a national priority after back-to-back droughts. And in July 2024, a new decree legalized the domestic reuse of non-potable water in public buildings under ARS supervision. The regulatory door is now open · we want to walk through it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product is a three-step service. Step one: a low-cost one-day eco-audit that ranks a center like an energy label · from A to E · on water, energy, and consumables. Step two: a playbook to capture RO-reject water for toilets, cooling, and irrigation. Step three: an AI agent that monitors consumption continuously and benchmarks centers against their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economics are proven · outside France. UK, Irish and Malaysian hospitals have run these systems for a decade with 1 to 3.5-year paybacks. For a typical 100-patient French center we model 4,200 cubic meters saved per year, about 1 ton of CO2 avoided, and mid-five-figure utility savings · all funded by Agences de l'Eau grants and CEE certificates, not hospital capex.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scale through the GHT framework. Months 0-6: three CHU pilots. Years 1-3: 20 hospitals via regional GHT rollouts. Years 3-7: a recognized national label · EcoDialysis-certified · that becomes a reputational asset, regulatory hedge, and procurement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Dialysis saves lives. We can make it save water too · without ever touching the clinical circuit. EcoDialysis: the first sustainability label built specifically for nephrology.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2A55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835025"/>
            <a:ext cx="133350" cy="133350"/>
          </a:xfrm>
          <a:prstGeom prst="ellipse">
            <a:avLst/>
          </a:prstGeom>
          <a:solidFill>
            <a:srgbClr val="4F9CFF"/>
          </a:solidFill>
          <a:ln/>
          <a:effectLst>
            <a:outerShdw blurRad="101600" dist="50800" dir="16200000" algn="bl" rotWithShape="0">
              <a:srgbClr val="4F9CFF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762000"/>
            <a:ext cx="4740637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ANDCS × MIT HACKING MEDICINE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50360" y="762000"/>
            <a:ext cx="15051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|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296124" y="762000"/>
            <a:ext cx="32897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FFFFFF">
                    <a:alpha val="7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 1 · Sustainable Care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786100" y="762000"/>
            <a:ext cx="15303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Paris · 2026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3153668"/>
            <a:ext cx="166782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4F9C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SUSTAINABILITY LABEL FOR NEPHROLOGY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3737868"/>
            <a:ext cx="15697200" cy="1680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200" b="1" kern="0" spc="-39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Eco</a:t>
            </a:r>
            <a:r>
              <a:rPr lang="en-US" sz="13200" b="1" kern="0" spc="-396" dirty="0">
                <a:solidFill>
                  <a:srgbClr val="4F9C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Dialysis</a:t>
            </a:r>
            <a:endParaRPr lang="en-US" sz="13200" dirty="0"/>
          </a:p>
        </p:txBody>
      </p:sp>
      <p:sp>
        <p:nvSpPr>
          <p:cNvPr id="10" name="Text 8"/>
          <p:cNvSpPr/>
          <p:nvPr/>
        </p:nvSpPr>
        <p:spPr>
          <a:xfrm>
            <a:off x="1047750" y="5761732"/>
            <a:ext cx="1471612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30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Turning </a:t>
            </a:r>
            <a:r>
              <a:rPr lang="en-US" sz="33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millions of liters of wasted hospital water </a:t>
            </a:r>
            <a:r>
              <a:rPr lang="en-US" sz="3300" dirty="0">
                <a:solidFill>
                  <a:srgbClr val="FFFFFF">
                    <a:alpha val="9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into measured savings, lower carbon, and brand value.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047750" y="8540750"/>
            <a:ext cx="161925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959850"/>
            <a:ext cx="596994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PITCH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7750" y="9296400"/>
            <a:ext cx="59699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bottom-up eco-audit for French dialysis centers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961170" y="8813800"/>
            <a:ext cx="1171377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min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961170" y="9334500"/>
            <a:ext cx="11713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44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PITCH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89746" y="8813800"/>
            <a:ext cx="1650504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buNone/>
            </a:pPr>
            <a:r>
              <a:rPr lang="en-US" sz="3600" b="1" kern="0" spc="-36" dirty="0">
                <a:solidFill>
                  <a:srgbClr val="4F9C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slides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589746" y="9334500"/>
            <a:ext cx="16505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44" dirty="0">
                <a:solidFill>
                  <a:srgbClr val="FFFFFF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STRUCTURE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049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33425"/>
            <a:ext cx="133350" cy="133350"/>
          </a:xfrm>
          <a:prstGeom prst="ellipse">
            <a:avLst/>
          </a:prstGeom>
          <a:solidFill>
            <a:srgbClr val="2E7FE8"/>
          </a:solidFill>
          <a:ln/>
          <a:effectLst>
            <a:outerShdw blurRad="101600" dist="50800" dir="16200000" algn="bl" rotWithShape="0">
              <a:srgbClr val="2E7F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666750"/>
            <a:ext cx="1784945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ECODIALYSIS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56545" y="666750"/>
            <a:ext cx="144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D9E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96555" y="666750"/>
            <a:ext cx="19591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07207" y="679450"/>
            <a:ext cx="415403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session. Every center. Every day.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160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FOOTPRINT OF HEMODIALYSIS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1828800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4-hour session sends ~250 L of clean water to the drain.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047750" y="2581275"/>
            <a:ext cx="14716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kern="0" spc="-12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Reverse-osmosis units reject 50–70% of the feedwater they purify · potable-grade water that never touches blood, and never leaves the hospital as anything but waste.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3819525"/>
            <a:ext cx="8850710" cy="5450681"/>
          </a:xfrm>
          <a:prstGeom prst="roundRect">
            <a:avLst>
              <a:gd name="adj" fmla="val 3495"/>
            </a:avLst>
          </a:prstGeom>
          <a:solidFill>
            <a:srgbClr val="F4F8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5100" y="4130675"/>
            <a:ext cx="8318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FLOW PER SESSION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100" y="4711700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 water 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02050" y="4606925"/>
            <a:ext cx="5809059" cy="476250"/>
          </a:xfrm>
          <a:prstGeom prst="roundRect">
            <a:avLst>
              <a:gd name="adj" fmla="val 16000"/>
            </a:avLst>
          </a:prstGeom>
          <a:solidFill>
            <a:srgbClr val="2E7FE8"/>
          </a:solidFill>
          <a:ln/>
        </p:spPr>
      </p:sp>
      <p:sp>
        <p:nvSpPr>
          <p:cNvPr id="15" name="Text 13"/>
          <p:cNvSpPr/>
          <p:nvPr/>
        </p:nvSpPr>
        <p:spPr>
          <a:xfrm>
            <a:off x="3911600" y="4606925"/>
            <a:ext cx="556423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400–500 L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2673350" y="5159375"/>
            <a:ext cx="19050" cy="133350"/>
          </a:xfrm>
          <a:prstGeom prst="rect">
            <a:avLst/>
          </a:prstGeom>
          <a:solidFill>
            <a:srgbClr val="6A7A90"/>
          </a:solidFill>
          <a:ln/>
        </p:spPr>
      </p:sp>
      <p:sp>
        <p:nvSpPr>
          <p:cNvPr id="17" name="Text 15"/>
          <p:cNvSpPr/>
          <p:nvPr/>
        </p:nvSpPr>
        <p:spPr>
          <a:xfrm>
            <a:off x="1435100" y="5292725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 unit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02050" y="5292725"/>
            <a:ext cx="5983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Purifies water to dialysate standard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35100" y="5692775"/>
            <a:ext cx="2889151" cy="1664891"/>
          </a:xfrm>
          <a:prstGeom prst="roundRect">
            <a:avLst>
              <a:gd name="adj" fmla="val 5721"/>
            </a:avLst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31950" y="5851525"/>
            <a:ext cx="25716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dialysate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31950" y="6118225"/>
            <a:ext cx="257165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 L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631950" y="6575425"/>
            <a:ext cx="25716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30–50% of feed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57601" y="5692775"/>
            <a:ext cx="5053410" cy="1664891"/>
          </a:xfrm>
          <a:prstGeom prst="roundRect">
            <a:avLst>
              <a:gd name="adj" fmla="val 5721"/>
            </a:avLst>
          </a:prstGeom>
          <a:solidFill>
            <a:srgbClr val="B7252E"/>
          </a:solidFill>
          <a:ln/>
        </p:spPr>
      </p:sp>
      <p:sp>
        <p:nvSpPr>
          <p:cNvPr id="24" name="Text 22"/>
          <p:cNvSpPr/>
          <p:nvPr/>
        </p:nvSpPr>
        <p:spPr>
          <a:xfrm>
            <a:off x="4667151" y="5845175"/>
            <a:ext cx="47733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 reject → drain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67151" y="6111875"/>
            <a:ext cx="4773339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250–350 L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4667151" y="6671866"/>
            <a:ext cx="47733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50–70% of feedwater · potable quality · wasted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431860" y="3819525"/>
            <a:ext cx="6808391" cy="2630091"/>
          </a:xfrm>
          <a:prstGeom prst="roundRect">
            <a:avLst>
              <a:gd name="adj" fmla="val 5794"/>
            </a:avLst>
          </a:prstGeom>
          <a:solidFill>
            <a:srgbClr val="0A2A55"/>
          </a:solidFill>
          <a:ln w="6350">
            <a:solidFill>
              <a:srgbClr val="0A2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19209" y="4168775"/>
            <a:ext cx="62147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 DIALYSIS POPULATION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819209" y="4530725"/>
            <a:ext cx="621470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50" b="1" kern="0" spc="-1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51,700</a:t>
            </a:r>
            <a:endParaRPr lang="en-US" sz="6450" dirty="0"/>
          </a:p>
        </p:txBody>
      </p:sp>
      <p:sp>
        <p:nvSpPr>
          <p:cNvPr id="30" name="Text 28"/>
          <p:cNvSpPr/>
          <p:nvPr/>
        </p:nvSpPr>
        <p:spPr>
          <a:xfrm>
            <a:off x="10819209" y="5483225"/>
            <a:ext cx="6214702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on dialysis (2022) · 77% in hospital-based in-center or UDM units.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431860" y="6640116"/>
            <a:ext cx="6808391" cy="2630091"/>
          </a:xfrm>
          <a:prstGeom prst="roundRect">
            <a:avLst>
              <a:gd name="adj" fmla="val 5794"/>
            </a:avLst>
          </a:prstGeom>
          <a:solidFill>
            <a:srgbClr val="F4F8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19209" y="6989366"/>
            <a:ext cx="62147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WASTE · ESTIMATE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819209" y="7351316"/>
            <a:ext cx="621470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50" b="1" kern="0" spc="-129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&gt;2M m³/yr</a:t>
            </a:r>
            <a:endParaRPr lang="en-US" sz="6450" dirty="0"/>
          </a:p>
        </p:txBody>
      </p:sp>
      <p:sp>
        <p:nvSpPr>
          <p:cNvPr id="34" name="Text 32"/>
          <p:cNvSpPr/>
          <p:nvPr/>
        </p:nvSpPr>
        <p:spPr>
          <a:xfrm>
            <a:off x="10819209" y="8303816"/>
            <a:ext cx="6214702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clean RO-reject water discarded from French in-center dialysis.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7750" y="9626600"/>
            <a:ext cx="16192500" cy="31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50" y="96266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750" y="9766300"/>
            <a:ext cx="1411102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lvl="1"/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Agence de la biomédecine / REIN registry 2022 · Clinical Kidney Journal 2025 (20-center HD environmental study) · ISN Hemodialysis RO-reject review · Karger Blood Purification 2025.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752789" y="9766300"/>
            <a:ext cx="5636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049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33425"/>
            <a:ext cx="133350" cy="133350"/>
          </a:xfrm>
          <a:prstGeom prst="ellipse">
            <a:avLst/>
          </a:prstGeom>
          <a:solidFill>
            <a:srgbClr val="2E7FE8"/>
          </a:solidFill>
          <a:ln/>
          <a:effectLst>
            <a:outerShdw blurRad="101600" dist="50800" dir="16200000" algn="bl" rotWithShape="0">
              <a:srgbClr val="2E7F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666750"/>
            <a:ext cx="1784945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ECODIALYSIS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56545" y="666750"/>
            <a:ext cx="144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D9E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96555" y="666750"/>
            <a:ext cx="1583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Why 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065522" y="679450"/>
            <a:ext cx="429997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Regulation, climate, and economics align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160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CONVERGING TAILWINDS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1828800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has just opened the legal and financial window.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047750" y="2581275"/>
            <a:ext cx="14716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kern="0" spc="-12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Eau, the July 2024 reuse decree, and Agences de l'Eau funding turn hospital water reuse from a technical curiosity into a board-level priority · for the first time.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3838575"/>
            <a:ext cx="5194300" cy="4277122"/>
          </a:xfrm>
          <a:prstGeom prst="roundRect">
            <a:avLst>
              <a:gd name="adj" fmla="val 4009"/>
            </a:avLst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6050" y="42259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A2A55"/>
          </a:solidFill>
          <a:ln/>
        </p:spPr>
      </p:sp>
      <p:sp>
        <p:nvSpPr>
          <p:cNvPr id="13" name="Text 11"/>
          <p:cNvSpPr/>
          <p:nvPr/>
        </p:nvSpPr>
        <p:spPr>
          <a:xfrm>
            <a:off x="1377950" y="42259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006600" y="4333875"/>
            <a:ext cx="117425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16050" y="4892675"/>
            <a:ext cx="45914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kern="0" spc="-30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Eau 2023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16050" y="5502275"/>
            <a:ext cx="4591431" cy="1737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March 2023 after two historic droughts, targets a </a:t>
            </a:r>
            <a:r>
              <a:rPr lang="en-US" sz="1800" b="1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national water-use reduction by 2030 </a:t>
            </a: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Hospitals now explicitly in scope.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16050" y="7391797"/>
            <a:ext cx="44577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18" name="Text 16"/>
          <p:cNvSpPr/>
          <p:nvPr/>
        </p:nvSpPr>
        <p:spPr>
          <a:xfrm>
            <a:off x="1416050" y="7531497"/>
            <a:ext cx="459143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Transition écologique · 53 measures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46850" y="3838575"/>
            <a:ext cx="5194300" cy="4277122"/>
          </a:xfrm>
          <a:prstGeom prst="roundRect">
            <a:avLst>
              <a:gd name="adj" fmla="val 4009"/>
            </a:avLst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5150" y="42259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FE8"/>
          </a:solidFill>
          <a:ln/>
        </p:spPr>
      </p:sp>
      <p:sp>
        <p:nvSpPr>
          <p:cNvPr id="21" name="Text 19"/>
          <p:cNvSpPr/>
          <p:nvPr/>
        </p:nvSpPr>
        <p:spPr>
          <a:xfrm>
            <a:off x="6877050" y="42259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05700" y="4333875"/>
            <a:ext cx="171638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915150" y="4892675"/>
            <a:ext cx="45914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kern="0" spc="-30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Décret EICH </a:t>
            </a:r>
            <a:r>
              <a:rPr lang="en-US" sz="2100" kern="0" spc="-3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July 2024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15150" y="5921375"/>
            <a:ext cx="4591431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Legalizes domestic reuse of </a:t>
            </a:r>
            <a:r>
              <a:rPr lang="en-US" sz="1800" b="1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non-potable water </a:t>
            </a: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public buildings (toilets, cleaning, irrigation) under ARS oversight. Hospitals are now eligible.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15150" y="7391797"/>
            <a:ext cx="44577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26" name="Text 24"/>
          <p:cNvSpPr/>
          <p:nvPr/>
        </p:nvSpPr>
        <p:spPr>
          <a:xfrm>
            <a:off x="6915150" y="7531497"/>
            <a:ext cx="459143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· Code de la santé publique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2045951" y="3838575"/>
            <a:ext cx="5194300" cy="4277122"/>
          </a:xfrm>
          <a:prstGeom prst="roundRect">
            <a:avLst>
              <a:gd name="adj" fmla="val 4009"/>
            </a:avLst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414250" y="42259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7B4A6"/>
          </a:solidFill>
          <a:ln/>
        </p:spPr>
      </p:sp>
      <p:sp>
        <p:nvSpPr>
          <p:cNvPr id="29" name="Text 27"/>
          <p:cNvSpPr/>
          <p:nvPr/>
        </p:nvSpPr>
        <p:spPr>
          <a:xfrm>
            <a:off x="12376150" y="42259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004800" y="4333875"/>
            <a:ext cx="123616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414250" y="4892675"/>
            <a:ext cx="45914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kern="0" spc="-30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ready </a:t>
            </a:r>
            <a:r>
              <a:rPr lang="en-US" sz="2100" kern="0" spc="-3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deploy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2414250" y="5921375"/>
            <a:ext cx="4591431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Agences de l'Eau </a:t>
            </a: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subsidize up to 60% of reuse capex. </a:t>
            </a:r>
            <a:r>
              <a:rPr lang="en-US" sz="1800" b="1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CEE </a:t>
            </a: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co-fund energy savings. Effectively neutralizes the hospital investment.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414250" y="7391797"/>
            <a:ext cx="44577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4" name="Text 32"/>
          <p:cNvSpPr/>
          <p:nvPr/>
        </p:nvSpPr>
        <p:spPr>
          <a:xfrm>
            <a:off x="12414250" y="7531497"/>
            <a:ext cx="459143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Agences · ADEME · CEE scheme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047750" y="8515747"/>
            <a:ext cx="16192500" cy="1253331"/>
          </a:xfrm>
          <a:prstGeom prst="roundRect">
            <a:avLst>
              <a:gd name="adj" fmla="val 10640"/>
            </a:avLst>
          </a:prstGeom>
          <a:solidFill>
            <a:srgbClr val="0A2A55"/>
          </a:solidFill>
          <a:ln/>
        </p:spPr>
      </p:sp>
      <p:sp>
        <p:nvSpPr>
          <p:cNvPr id="36" name="Text 34"/>
          <p:cNvSpPr/>
          <p:nvPr/>
        </p:nvSpPr>
        <p:spPr>
          <a:xfrm>
            <a:off x="1428750" y="9021763"/>
            <a:ext cx="127327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64" dirty="0">
                <a:solidFill>
                  <a:srgbClr val="4F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2930624" y="8942388"/>
            <a:ext cx="9525" cy="400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243263" y="8782447"/>
            <a:ext cx="1402446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without action, hospitals miss both a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window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fully-funded capex cycle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First movers lock in the label.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047750" y="9448800"/>
            <a:ext cx="16192500" cy="495300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7750" y="94488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41" name="Text 39"/>
          <p:cNvSpPr/>
          <p:nvPr/>
        </p:nvSpPr>
        <p:spPr>
          <a:xfrm>
            <a:off x="1047750" y="9588500"/>
            <a:ext cx="1422558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Ministère de la Transition écologique, Plan Eau (March 2023) · Décret n° 2024-694, 12 July 2024 · Arrêté EICH (ARS Île-de-France) · Agences de l'Eau 11ᵉ programme · ADEME CEE fiches.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6752789" y="9677400"/>
            <a:ext cx="5636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049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33425"/>
            <a:ext cx="133350" cy="133350"/>
          </a:xfrm>
          <a:prstGeom prst="ellipse">
            <a:avLst/>
          </a:prstGeom>
          <a:solidFill>
            <a:srgbClr val="2E7FE8"/>
          </a:solidFill>
          <a:ln/>
          <a:effectLst>
            <a:outerShdw blurRad="101600" dist="50800" dir="16200000" algn="bl" rotWithShape="0">
              <a:srgbClr val="2E7F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666750"/>
            <a:ext cx="1784945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ECODIALYSIS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56545" y="666750"/>
            <a:ext cx="144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D9E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96555" y="666750"/>
            <a:ext cx="19216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Our solution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25861" y="679450"/>
            <a:ext cx="249058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→ Label → Action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160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ECODIALYSIS SERVICE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1828800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three-step sustainability system built for nephrology.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047750" y="2581275"/>
            <a:ext cx="14716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kern="0" spc="-12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a transparent water &amp; energy audit, producing an energy-label-style ranking, then implementing proven RO-reject reuse · without ever touching the clinical water circuit.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3819525"/>
            <a:ext cx="16192500" cy="4600575"/>
          </a:xfrm>
          <a:prstGeom prst="roundRect">
            <a:avLst>
              <a:gd name="adj" fmla="val 3727"/>
            </a:avLst>
          </a:prstGeom>
          <a:ln w="6350">
            <a:solidFill>
              <a:srgbClr val="D9E3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4100" y="3825875"/>
            <a:ext cx="5393234" cy="4846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0984" y="3825875"/>
            <a:ext cx="9525" cy="4846241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14" name="Text 12"/>
          <p:cNvSpPr/>
          <p:nvPr/>
        </p:nvSpPr>
        <p:spPr>
          <a:xfrm>
            <a:off x="1435100" y="4206875"/>
            <a:ext cx="843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850" b="1" kern="0" spc="-234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2335411" y="4645025"/>
            <a:ext cx="89346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35100" y="5121275"/>
            <a:ext cx="4763630" cy="4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1-day eco-audit, fixed price.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435100" y="5687020"/>
            <a:ext cx="4763630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water, energy and consumables for every HD station · then translates the data into a management-ready baseline.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01750" y="6807994"/>
            <a:ext cx="4834434" cy="137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On-site water &amp; energy metering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Consumables &amp; waste mapping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Peer benchmark report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7334" y="3825875"/>
            <a:ext cx="5393234" cy="4846241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34217" y="3825875"/>
            <a:ext cx="9525" cy="4846241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21" name="Text 19"/>
          <p:cNvSpPr/>
          <p:nvPr/>
        </p:nvSpPr>
        <p:spPr>
          <a:xfrm>
            <a:off x="6828334" y="4206875"/>
            <a:ext cx="843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850" b="1" kern="0" spc="-234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850" dirty="0"/>
          </a:p>
        </p:txBody>
      </p:sp>
      <p:sp>
        <p:nvSpPr>
          <p:cNvPr id="22" name="Text 20"/>
          <p:cNvSpPr/>
          <p:nvPr/>
        </p:nvSpPr>
        <p:spPr>
          <a:xfrm>
            <a:off x="7728645" y="4645025"/>
            <a:ext cx="91727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828334" y="5121275"/>
            <a:ext cx="4763630" cy="826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A-to-E rating, peer-benchmarked.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6828334" y="6081316"/>
            <a:ext cx="514350" cy="266700"/>
          </a:xfrm>
          <a:prstGeom prst="roundRect">
            <a:avLst>
              <a:gd name="adj" fmla="val 10714"/>
            </a:avLst>
          </a:prstGeom>
          <a:solidFill>
            <a:srgbClr val="1F9D55"/>
          </a:solidFill>
          <a:ln/>
        </p:spPr>
      </p:sp>
      <p:sp>
        <p:nvSpPr>
          <p:cNvPr id="25" name="Text 23"/>
          <p:cNvSpPr/>
          <p:nvPr/>
        </p:nvSpPr>
        <p:spPr>
          <a:xfrm>
            <a:off x="6790234" y="6081316"/>
            <a:ext cx="59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37934" y="6116241"/>
            <a:ext cx="306698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· RO reuse + optimization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828334" y="6405166"/>
            <a:ext cx="762000" cy="266700"/>
          </a:xfrm>
          <a:prstGeom prst="roundRect">
            <a:avLst>
              <a:gd name="adj" fmla="val 10714"/>
            </a:avLst>
          </a:prstGeom>
          <a:solidFill>
            <a:srgbClr val="6BB85A"/>
          </a:solidFill>
          <a:ln/>
        </p:spPr>
      </p:sp>
      <p:sp>
        <p:nvSpPr>
          <p:cNvPr id="28" name="Text 26"/>
          <p:cNvSpPr/>
          <p:nvPr/>
        </p:nvSpPr>
        <p:spPr>
          <a:xfrm>
            <a:off x="6790234" y="6405166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685584" y="6440091"/>
            <a:ext cx="122961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average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828334" y="6729016"/>
            <a:ext cx="1047750" cy="266700"/>
          </a:xfrm>
          <a:prstGeom prst="roundRect">
            <a:avLst>
              <a:gd name="adj" fmla="val 10714"/>
            </a:avLst>
          </a:prstGeom>
          <a:solidFill>
            <a:srgbClr val="C5D13F"/>
          </a:solidFill>
          <a:ln/>
        </p:spPr>
      </p:sp>
      <p:sp>
        <p:nvSpPr>
          <p:cNvPr id="31" name="Text 29"/>
          <p:cNvSpPr/>
          <p:nvPr/>
        </p:nvSpPr>
        <p:spPr>
          <a:xfrm>
            <a:off x="6790234" y="6729016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71334" y="6763941"/>
            <a:ext cx="131524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median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828334" y="7052866"/>
            <a:ext cx="1333500" cy="266700"/>
          </a:xfrm>
          <a:prstGeom prst="roundRect">
            <a:avLst>
              <a:gd name="adj" fmla="val 10714"/>
            </a:avLst>
          </a:prstGeom>
          <a:solidFill>
            <a:srgbClr val="F0B445"/>
          </a:solidFill>
          <a:ln/>
        </p:spPr>
      </p:sp>
      <p:sp>
        <p:nvSpPr>
          <p:cNvPr id="34" name="Text 32"/>
          <p:cNvSpPr/>
          <p:nvPr/>
        </p:nvSpPr>
        <p:spPr>
          <a:xfrm>
            <a:off x="6790234" y="7052866"/>
            <a:ext cx="1409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57084" y="7087791"/>
            <a:ext cx="169644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needed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828334" y="7376716"/>
            <a:ext cx="1619250" cy="266700"/>
          </a:xfrm>
          <a:prstGeom prst="roundRect">
            <a:avLst>
              <a:gd name="adj" fmla="val 10714"/>
            </a:avLst>
          </a:prstGeom>
          <a:solidFill>
            <a:srgbClr val="D9362C"/>
          </a:solidFill>
          <a:ln/>
        </p:spPr>
      </p:sp>
      <p:sp>
        <p:nvSpPr>
          <p:cNvPr id="37" name="Text 35"/>
          <p:cNvSpPr/>
          <p:nvPr/>
        </p:nvSpPr>
        <p:spPr>
          <a:xfrm>
            <a:off x="6790234" y="7376716"/>
            <a:ext cx="1695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542834" y="7411641"/>
            <a:ext cx="209629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waste · priority action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828334" y="7833916"/>
            <a:ext cx="47636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Evolves into a paid </a:t>
            </a:r>
            <a:r>
              <a:rPr lang="en-US" sz="1500" b="1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</a:t>
            </a: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centers display to regulators, patients, and partners.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840568" y="3825875"/>
            <a:ext cx="5393234" cy="4846241"/>
          </a:xfrm>
          <a:prstGeom prst="rect">
            <a:avLst/>
          </a:prstGeom>
          <a:solidFill>
            <a:srgbClr val="0A2A55"/>
          </a:solidFill>
          <a:ln/>
        </p:spPr>
      </p:sp>
      <p:sp>
        <p:nvSpPr>
          <p:cNvPr id="41" name="Text 39"/>
          <p:cNvSpPr/>
          <p:nvPr/>
        </p:nvSpPr>
        <p:spPr>
          <a:xfrm>
            <a:off x="12221568" y="4206875"/>
            <a:ext cx="843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850" b="1" kern="0" spc="-234" dirty="0">
                <a:solidFill>
                  <a:srgbClr val="4F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850" dirty="0"/>
          </a:p>
        </p:txBody>
      </p:sp>
      <p:sp>
        <p:nvSpPr>
          <p:cNvPr id="42" name="Text 40"/>
          <p:cNvSpPr/>
          <p:nvPr/>
        </p:nvSpPr>
        <p:spPr>
          <a:xfrm>
            <a:off x="13121878" y="4645025"/>
            <a:ext cx="60850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221568" y="5121275"/>
            <a:ext cx="4770171" cy="4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RO-reject reuse, engineered.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12221568" y="5687020"/>
            <a:ext cx="4770171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playbook: buffer tank, UV-C sanitation, dual plumbing, backflow prevention · routed to toilets, cooling, irrigation.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088218" y="6807994"/>
            <a:ext cx="4840784" cy="137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Hardware kit + ARS-ready dossier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monitoring: anomalies, KPIs, reporting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Grant application handled end-to-end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47750" y="8807450"/>
            <a:ext cx="190887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240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147120" y="8782050"/>
            <a:ext cx="9525" cy="266700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48" name="Text 46"/>
          <p:cNvSpPr/>
          <p:nvPr/>
        </p:nvSpPr>
        <p:spPr>
          <a:xfrm>
            <a:off x="3423345" y="8794750"/>
            <a:ext cx="110129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water </a:t>
            </a:r>
            <a:r>
              <a:rPr lang="en-US" sz="1650" b="1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</a:t>
            </a:r>
            <a:r>
              <a:rPr lang="en-US" sz="165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re-enters the clinical circuit. Only non-clinical uses: toilets, cooling, irrigation, external cleaning.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047750" y="9448800"/>
            <a:ext cx="161925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47750" y="94488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51" name="Text 49"/>
          <p:cNvSpPr/>
          <p:nvPr/>
        </p:nvSpPr>
        <p:spPr>
          <a:xfrm>
            <a:off x="1047750" y="9588500"/>
            <a:ext cx="1422558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Sustainable Healthcare Network UK · Canterbury / East Kent case guide · Malaysia MoH Sultan Abdul Halim RO-reuse report · Plos One 2022 circular-economy nephrology review · ARS EICH guidance 2024.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6752789" y="9677400"/>
            <a:ext cx="5636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049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33425"/>
            <a:ext cx="133350" cy="133350"/>
          </a:xfrm>
          <a:prstGeom prst="ellipse">
            <a:avLst/>
          </a:prstGeom>
          <a:solidFill>
            <a:srgbClr val="2E7FE8"/>
          </a:solidFill>
          <a:ln/>
          <a:effectLst>
            <a:outerShdw blurRad="101600" dist="50800" dir="16200000" algn="bl" rotWithShape="0">
              <a:srgbClr val="2E7F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666750"/>
            <a:ext cx="1784945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ECODIALYSIS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56545" y="666750"/>
            <a:ext cx="144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D9E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96555" y="666750"/>
            <a:ext cx="26283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Evidence &amp; impact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19039" y="679450"/>
            <a:ext cx="393584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abroad · quantified for France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160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CASE STUDY TO BUSINESS CASE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1828800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1–3.5 year payback. Zero clinical risk. Replicated in 5+ countries.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047750" y="2581275"/>
            <a:ext cx="14716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kern="0" spc="-12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modeled 100-patient French CHU dialysis unit saves ~4,200 m³ of potable water and ~1 tCO₂e per year · before counting procurement gains from the full audit.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3781425"/>
            <a:ext cx="8457307" cy="5359400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6050" y="4073525"/>
            <a:ext cx="7952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CASE STUDIES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6050" y="4397375"/>
            <a:ext cx="795232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recovered per year, per HD unit (m³)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16050" y="4886325"/>
            <a:ext cx="241607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Canterbury (UK) · est. 1999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4977" y="4886325"/>
            <a:ext cx="82798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3,800 m³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416050" y="5159375"/>
            <a:ext cx="7720707" cy="266700"/>
          </a:xfrm>
          <a:prstGeom prst="roundRect">
            <a:avLst>
              <a:gd name="adj" fmla="val 21429"/>
            </a:avLst>
          </a:prstGeom>
          <a:solidFill>
            <a:srgbClr val="E6F0FB"/>
          </a:solidFill>
          <a:ln/>
        </p:spPr>
      </p:sp>
      <p:sp>
        <p:nvSpPr>
          <p:cNvPr id="17" name="Shape 15"/>
          <p:cNvSpPr/>
          <p:nvPr/>
        </p:nvSpPr>
        <p:spPr>
          <a:xfrm>
            <a:off x="1416050" y="5159375"/>
            <a:ext cx="5558830" cy="266700"/>
          </a:xfrm>
          <a:prstGeom prst="rect">
            <a:avLst/>
          </a:prstGeom>
          <a:solidFill>
            <a:srgbClr val="2E7FE8"/>
          </a:solidFill>
          <a:ln/>
        </p:spPr>
      </p:sp>
      <p:sp>
        <p:nvSpPr>
          <p:cNvPr id="18" name="Text 16"/>
          <p:cNvSpPr/>
          <p:nvPr/>
        </p:nvSpPr>
        <p:spPr>
          <a:xfrm>
            <a:off x="1416050" y="5464175"/>
            <a:ext cx="795232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~2-year payback · £7,500/yr saved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6050" y="5775325"/>
            <a:ext cx="172769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Lister Hospital (UK)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84977" y="5775325"/>
            <a:ext cx="82798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5,240 m³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416050" y="6048375"/>
            <a:ext cx="7720707" cy="266700"/>
          </a:xfrm>
          <a:prstGeom prst="roundRect">
            <a:avLst>
              <a:gd name="adj" fmla="val 21429"/>
            </a:avLst>
          </a:prstGeom>
          <a:solidFill>
            <a:srgbClr val="E6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1416050" y="6048375"/>
            <a:ext cx="7566224" cy="266700"/>
          </a:xfrm>
          <a:prstGeom prst="rect">
            <a:avLst/>
          </a:prstGeom>
          <a:solidFill>
            <a:srgbClr val="2E7FE8"/>
          </a:solidFill>
          <a:ln/>
        </p:spPr>
      </p:sp>
      <p:sp>
        <p:nvSpPr>
          <p:cNvPr id="23" name="Text 21"/>
          <p:cNvSpPr/>
          <p:nvPr/>
        </p:nvSpPr>
        <p:spPr>
          <a:xfrm>
            <a:off x="1416050" y="6353175"/>
            <a:ext cx="795232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≈ 14 months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6050" y="6664325"/>
            <a:ext cx="231011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Sultan A. Halim (Malaysia)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84977" y="6664325"/>
            <a:ext cx="82798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2,100 m³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416050" y="6937375"/>
            <a:ext cx="7720707" cy="266700"/>
          </a:xfrm>
          <a:prstGeom prst="roundRect">
            <a:avLst>
              <a:gd name="adj" fmla="val 21429"/>
            </a:avLst>
          </a:prstGeom>
          <a:solidFill>
            <a:srgbClr val="E6F0F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16050" y="6937375"/>
            <a:ext cx="3088283" cy="266700"/>
          </a:xfrm>
          <a:prstGeom prst="rect">
            <a:avLst/>
          </a:prstGeom>
          <a:solidFill>
            <a:srgbClr val="2E7FE8"/>
          </a:solidFill>
          <a:ln/>
        </p:spPr>
      </p:sp>
      <p:sp>
        <p:nvSpPr>
          <p:cNvPr id="28" name="Text 26"/>
          <p:cNvSpPr/>
          <p:nvPr/>
        </p:nvSpPr>
        <p:spPr>
          <a:xfrm>
            <a:off x="1416050" y="7242175"/>
            <a:ext cx="795232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&lt; 2 yrs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6050" y="7553325"/>
            <a:ext cx="225722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Countess of Chester (UK)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84977" y="7553325"/>
            <a:ext cx="82798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1,460 m³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416050" y="7826375"/>
            <a:ext cx="7720707" cy="266700"/>
          </a:xfrm>
          <a:prstGeom prst="roundRect">
            <a:avLst>
              <a:gd name="adj" fmla="val 21429"/>
            </a:avLst>
          </a:prstGeom>
          <a:solidFill>
            <a:srgbClr val="E6F0FB"/>
          </a:solidFill>
          <a:ln/>
        </p:spPr>
      </p:sp>
      <p:sp>
        <p:nvSpPr>
          <p:cNvPr id="32" name="Shape 30"/>
          <p:cNvSpPr/>
          <p:nvPr/>
        </p:nvSpPr>
        <p:spPr>
          <a:xfrm>
            <a:off x="1416050" y="7826375"/>
            <a:ext cx="2161778" cy="266700"/>
          </a:xfrm>
          <a:prstGeom prst="rect">
            <a:avLst/>
          </a:prstGeom>
          <a:solidFill>
            <a:srgbClr val="2E7FE8"/>
          </a:solidFill>
          <a:ln/>
        </p:spPr>
      </p:sp>
      <p:sp>
        <p:nvSpPr>
          <p:cNvPr id="33" name="Text 31"/>
          <p:cNvSpPr/>
          <p:nvPr/>
        </p:nvSpPr>
        <p:spPr>
          <a:xfrm>
            <a:off x="1416050" y="8131175"/>
            <a:ext cx="795232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3.5 yrs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416050" y="8480425"/>
            <a:ext cx="7720707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5" name="Text 33"/>
          <p:cNvSpPr/>
          <p:nvPr/>
        </p:nvSpPr>
        <p:spPr>
          <a:xfrm>
            <a:off x="1416050" y="8601075"/>
            <a:ext cx="79523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1,460–5,240 m³/yr </a:t>
            </a:r>
            <a:r>
              <a:rPr lang="en-US" sz="150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500" b="1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12–42 mo.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886057" y="3781425"/>
            <a:ext cx="7354193" cy="3213100"/>
          </a:xfrm>
          <a:prstGeom prst="roundRect">
            <a:avLst>
              <a:gd name="adj" fmla="val 5336"/>
            </a:avLst>
          </a:prstGeom>
          <a:solidFill>
            <a:srgbClr val="0A2A55"/>
          </a:solidFill>
          <a:ln/>
        </p:spPr>
      </p:sp>
      <p:sp>
        <p:nvSpPr>
          <p:cNvPr id="37" name="Text 35"/>
          <p:cNvSpPr/>
          <p:nvPr/>
        </p:nvSpPr>
        <p:spPr>
          <a:xfrm>
            <a:off x="10228957" y="4086225"/>
            <a:ext cx="686844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210" dirty="0">
                <a:solidFill>
                  <a:srgbClr val="4F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· TYPICAL FRENCH CHU UNIT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228957" y="4359275"/>
            <a:ext cx="686844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patients · 15,600 sessions/yr · 270 L RO-reject per session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228957" y="4791075"/>
            <a:ext cx="332625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m³</a:t>
            </a:r>
            <a:endParaRPr lang="en-US" sz="4500" dirty="0"/>
          </a:p>
        </p:txBody>
      </p:sp>
      <p:sp>
        <p:nvSpPr>
          <p:cNvPr id="40" name="Text 38"/>
          <p:cNvSpPr/>
          <p:nvPr/>
        </p:nvSpPr>
        <p:spPr>
          <a:xfrm>
            <a:off x="10228957" y="5419725"/>
            <a:ext cx="332625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Potable water saved / year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3667880" y="4791075"/>
            <a:ext cx="33263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tCO₂e</a:t>
            </a:r>
            <a:endParaRPr lang="en-US" sz="4500" dirty="0"/>
          </a:p>
        </p:txBody>
      </p:sp>
      <p:sp>
        <p:nvSpPr>
          <p:cNvPr id="42" name="Text 40"/>
          <p:cNvSpPr/>
          <p:nvPr/>
        </p:nvSpPr>
        <p:spPr>
          <a:xfrm>
            <a:off x="13667880" y="5419725"/>
            <a:ext cx="332635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emissions / year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228957" y="5845175"/>
            <a:ext cx="332625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90" dirty="0">
                <a:solidFill>
                  <a:srgbClr val="4F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€15–25k</a:t>
            </a:r>
            <a:endParaRPr lang="en-US" sz="4500" dirty="0"/>
          </a:p>
        </p:txBody>
      </p:sp>
      <p:sp>
        <p:nvSpPr>
          <p:cNvPr id="44" name="Text 42"/>
          <p:cNvSpPr/>
          <p:nvPr/>
        </p:nvSpPr>
        <p:spPr>
          <a:xfrm>
            <a:off x="10228957" y="6473825"/>
            <a:ext cx="332625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savings / year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667880" y="5845175"/>
            <a:ext cx="33263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kern="0" spc="-90" dirty="0">
                <a:solidFill>
                  <a:srgbClr val="4F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yrs</a:t>
            </a:r>
            <a:endParaRPr lang="en-US" sz="4500" dirty="0"/>
          </a:p>
        </p:txBody>
      </p:sp>
      <p:sp>
        <p:nvSpPr>
          <p:cNvPr id="46" name="Text 44"/>
          <p:cNvSpPr/>
          <p:nvPr/>
        </p:nvSpPr>
        <p:spPr>
          <a:xfrm>
            <a:off x="13667880" y="6473825"/>
            <a:ext cx="332635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(before grants)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886057" y="7185025"/>
            <a:ext cx="7354193" cy="1549400"/>
          </a:xfrm>
          <a:prstGeom prst="roundRect">
            <a:avLst>
              <a:gd name="adj" fmla="val 11066"/>
            </a:avLst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35308" y="7458075"/>
            <a:ext cx="685536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21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150 FRENCH HOSPITALS ADOPT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235308" y="7769225"/>
            <a:ext cx="279228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2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0.3–0.75M m³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10235308" y="8264525"/>
            <a:ext cx="279228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/ year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3251061" y="7769225"/>
            <a:ext cx="17827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2" dirty="0">
                <a:solidFill>
                  <a:srgbClr val="17B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70–200 t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13251061" y="8264525"/>
            <a:ext cx="178276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CO₂e / year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1047750" y="9448800"/>
            <a:ext cx="16192500" cy="495300"/>
          </a:xfrm>
          <a:prstGeom prst="rect">
            <a:avLst/>
          </a:prstGeom>
          <a:solidFill>
            <a:srgbClr val="F4F8FD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7750" y="94488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55" name="Text 53"/>
          <p:cNvSpPr/>
          <p:nvPr/>
        </p:nvSpPr>
        <p:spPr>
          <a:xfrm>
            <a:off x="1047750" y="9588500"/>
            <a:ext cx="1422558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Sustainable Healthcare Network UK (Canterbury, Lister, Countess of Chester case studies) · Bulletin USF 2023 review · Climatiq French water-supply emission factor (0.23–0.27 kgCO₂e/m³). Per-hospital figures are modeled from published parameters; clearly labeled as estimates.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6752789" y="9677400"/>
            <a:ext cx="5636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049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33425"/>
            <a:ext cx="133350" cy="133350"/>
          </a:xfrm>
          <a:prstGeom prst="ellipse">
            <a:avLst/>
          </a:prstGeom>
          <a:solidFill>
            <a:srgbClr val="2E7FE8"/>
          </a:solidFill>
          <a:ln/>
          <a:effectLst>
            <a:outerShdw blurRad="101600" dist="50800" dir="16200000" algn="bl" rotWithShape="0">
              <a:srgbClr val="2E7F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666750"/>
            <a:ext cx="1784945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ECODIALYSIS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56545" y="666750"/>
            <a:ext cx="144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D9E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96555" y="666750"/>
            <a:ext cx="16346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Roadmap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14004" y="679450"/>
            <a:ext cx="373503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→ GHT scale → National label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1416050"/>
            <a:ext cx="166782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 PILOTS TO A NATIONAL LABEL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1828800"/>
            <a:ext cx="166782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6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rollout along France's existing hospital governance.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047750" y="2581275"/>
            <a:ext cx="14716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kern="0" spc="-12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scale through the Groupements Hospitaliers de Territoire · the 135 regional hospital alliances France already uses to standardize procurement and quality.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504950" y="3933825"/>
            <a:ext cx="15278100" cy="38100"/>
          </a:xfrm>
          <a:prstGeom prst="roundRect">
            <a:avLst>
              <a:gd name="adj" fmla="val 50000"/>
            </a:avLst>
          </a:prstGeom>
          <a:solidFill>
            <a:srgbClr val="D9E3EF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4950" y="3857625"/>
            <a:ext cx="190500" cy="190500"/>
          </a:xfrm>
          <a:prstGeom prst="ellipse">
            <a:avLst/>
          </a:prstGeom>
          <a:solidFill>
            <a:srgbClr val="2E7FE8"/>
          </a:solidFill>
          <a:ln/>
          <a:effectLst>
            <a:outerShdw blurRad="101600" dist="50800" dir="16200000" algn="bl" rotWithShape="0">
              <a:srgbClr val="2E7FE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48750" y="3857625"/>
            <a:ext cx="190500" cy="190500"/>
          </a:xfrm>
          <a:prstGeom prst="ellipse">
            <a:avLst/>
          </a:prstGeom>
          <a:solidFill>
            <a:srgbClr val="2E7FE8"/>
          </a:solidFill>
          <a:ln/>
          <a:effectLst>
            <a:outerShdw blurRad="101600" dist="50800" dir="16200000" algn="bl" rotWithShape="0">
              <a:srgbClr val="2E7FE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592550" y="3857625"/>
            <a:ext cx="190500" cy="190500"/>
          </a:xfrm>
          <a:prstGeom prst="ellipse">
            <a:avLst/>
          </a:prstGeom>
          <a:solidFill>
            <a:srgbClr val="17B4A6"/>
          </a:solidFill>
          <a:ln/>
          <a:effectLst>
            <a:outerShdw blurRad="101600" dist="50800" dir="16200000" algn="bl" rotWithShape="0">
              <a:srgbClr val="17B4A6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04950" y="3419475"/>
            <a:ext cx="121314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months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711605" y="3419475"/>
            <a:ext cx="9409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1–3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918260" y="3419475"/>
            <a:ext cx="94099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17B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3–7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47750" y="4429125"/>
            <a:ext cx="5219700" cy="3284141"/>
          </a:xfrm>
          <a:prstGeom prst="roundRect">
            <a:avLst>
              <a:gd name="adj" fmla="val 4640"/>
            </a:avLst>
          </a:prstGeom>
          <a:solidFill>
            <a:srgbClr val="FFFFF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7950" y="4740275"/>
            <a:ext cx="469607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PROVE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77950" y="5076825"/>
            <a:ext cx="4696079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kern="0" spc="-2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CHU pilots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4600" y="5579666"/>
            <a:ext cx="4768850" cy="132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audits on 2 friendly centers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dossier + EICH approval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Agence de l'Eau grant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77950" y="7033816"/>
            <a:ext cx="4559300" cy="19050"/>
          </a:xfrm>
          <a:prstGeom prst="rect">
            <a:avLst/>
          </a:prstGeom>
          <a:solidFill>
            <a:srgbClr val="2E7FE8"/>
          </a:solidFill>
          <a:ln/>
        </p:spPr>
      </p:sp>
      <p:sp>
        <p:nvSpPr>
          <p:cNvPr id="23" name="Text 21"/>
          <p:cNvSpPr/>
          <p:nvPr/>
        </p:nvSpPr>
        <p:spPr>
          <a:xfrm>
            <a:off x="1377950" y="7186216"/>
            <a:ext cx="469607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validated methodology + 1 published case.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4150" y="4429125"/>
            <a:ext cx="5219700" cy="3284141"/>
          </a:xfrm>
          <a:prstGeom prst="roundRect">
            <a:avLst>
              <a:gd name="adj" fmla="val 4640"/>
            </a:avLst>
          </a:prstGeom>
          <a:solidFill>
            <a:srgbClr val="F4F8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4350" y="4740275"/>
            <a:ext cx="469607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SCALE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864350" y="5076825"/>
            <a:ext cx="4696079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kern="0" spc="-2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hospitals via GHT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31000" y="5579666"/>
            <a:ext cx="4768850" cy="132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specs + procurement kit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monitoring &amp; peer benchmarks live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Nephrology-congress distribution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64350" y="7033816"/>
            <a:ext cx="4559300" cy="19050"/>
          </a:xfrm>
          <a:prstGeom prst="rect">
            <a:avLst/>
          </a:prstGeom>
          <a:solidFill>
            <a:srgbClr val="2E7FE8"/>
          </a:solidFill>
          <a:ln/>
        </p:spPr>
      </p:sp>
      <p:sp>
        <p:nvSpPr>
          <p:cNvPr id="29" name="Text 27"/>
          <p:cNvSpPr/>
          <p:nvPr/>
        </p:nvSpPr>
        <p:spPr>
          <a:xfrm>
            <a:off x="6864350" y="7186216"/>
            <a:ext cx="469607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40–100k m³ saved · learning-curve cost drop.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2020550" y="4429125"/>
            <a:ext cx="5219700" cy="3284141"/>
          </a:xfrm>
          <a:prstGeom prst="roundRect">
            <a:avLst>
              <a:gd name="adj" fmla="val 4640"/>
            </a:avLst>
          </a:prstGeom>
          <a:solidFill>
            <a:srgbClr val="FFFFFF"/>
          </a:solidFill>
          <a:ln w="6350">
            <a:solidFill>
              <a:srgbClr val="17B4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50751" y="4740275"/>
            <a:ext cx="469607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17B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INSTITUTIONALIZE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2350751" y="5076825"/>
            <a:ext cx="4696079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kern="0" spc="-2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label + extension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217401" y="5579666"/>
            <a:ext cx="4768850" cy="1320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certification scheme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sterilization, imaging, oncology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in HAS / ANS sustainability KPIs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2350751" y="7033816"/>
            <a:ext cx="4559300" cy="19050"/>
          </a:xfrm>
          <a:prstGeom prst="rect">
            <a:avLst/>
          </a:prstGeom>
          <a:solidFill>
            <a:srgbClr val="17B4A6"/>
          </a:solidFill>
          <a:ln/>
        </p:spPr>
      </p:sp>
      <p:sp>
        <p:nvSpPr>
          <p:cNvPr id="35" name="Text 33"/>
          <p:cNvSpPr/>
          <p:nvPr/>
        </p:nvSpPr>
        <p:spPr>
          <a:xfrm>
            <a:off x="12350751" y="7186216"/>
            <a:ext cx="469607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EcoDialysis = the reference label.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47750" y="8246666"/>
            <a:ext cx="16192500" cy="802084"/>
          </a:xfrm>
          <a:prstGeom prst="roundRect">
            <a:avLst>
              <a:gd name="adj" fmla="val 16625"/>
            </a:avLst>
          </a:prstGeom>
          <a:solidFill>
            <a:srgbClr val="D9E3EF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4100" y="8253016"/>
            <a:ext cx="4037806" cy="111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301750" y="8462566"/>
            <a:ext cx="36487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301750" y="8716566"/>
            <a:ext cx="364878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Fixed-price audit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301750" y="8957866"/>
            <a:ext cx="36487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€3–5k / site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101432" y="8253016"/>
            <a:ext cx="4037806" cy="111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349082" y="8462566"/>
            <a:ext cx="36487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2–3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349082" y="8716566"/>
            <a:ext cx="364878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retainer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5349082" y="8957866"/>
            <a:ext cx="36487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fee on savings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148763" y="8253016"/>
            <a:ext cx="4037806" cy="111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9396413" y="8462566"/>
            <a:ext cx="36487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3+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9396413" y="8716566"/>
            <a:ext cx="364878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fee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9396413" y="8957866"/>
            <a:ext cx="36487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· tiered by size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3196095" y="8253016"/>
            <a:ext cx="4037806" cy="1111250"/>
          </a:xfrm>
          <a:prstGeom prst="rect">
            <a:avLst/>
          </a:prstGeom>
          <a:solidFill>
            <a:srgbClr val="0A2A55"/>
          </a:solidFill>
          <a:ln/>
        </p:spPr>
      </p:sp>
      <p:sp>
        <p:nvSpPr>
          <p:cNvPr id="50" name="Text 48"/>
          <p:cNvSpPr/>
          <p:nvPr/>
        </p:nvSpPr>
        <p:spPr>
          <a:xfrm>
            <a:off x="13443745" y="8462566"/>
            <a:ext cx="36487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4F9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5+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3443745" y="8716566"/>
            <a:ext cx="364878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Multi-sector platform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3443745" y="8957866"/>
            <a:ext cx="36487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SaaS across hospitals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1047750" y="9448800"/>
            <a:ext cx="16192500" cy="495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7750" y="94488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55" name="Text 53"/>
          <p:cNvSpPr/>
          <p:nvPr/>
        </p:nvSpPr>
        <p:spPr>
          <a:xfrm>
            <a:off x="1047750" y="9588500"/>
            <a:ext cx="14225588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DREES SAE 2024 hospital establishment count · Ministère de la Santé · GHT framework (loi 2016) · FranceRein / REIN 2022 registry · Cour des comptes 2023 hospital competition report.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6752789" y="9677400"/>
            <a:ext cx="5636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049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33425"/>
            <a:ext cx="133350" cy="133350"/>
          </a:xfrm>
          <a:prstGeom prst="ellipse">
            <a:avLst/>
          </a:prstGeom>
          <a:solidFill>
            <a:srgbClr val="2E7FE8"/>
          </a:solidFill>
          <a:ln/>
          <a:effectLst>
            <a:outerShdw blurRad="101600" dist="50800" dir="16200000" algn="bl" rotWithShape="0">
              <a:srgbClr val="2E7FE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76350" y="666750"/>
            <a:ext cx="1784945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ECODIALYSIS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56545" y="666750"/>
            <a:ext cx="144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D9E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96555" y="666750"/>
            <a:ext cx="14524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The 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78011" y="679450"/>
            <a:ext cx="439010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72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ANDCS × MIT Hacking Medicine · Track 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" y="2032397"/>
            <a:ext cx="166782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2578497"/>
            <a:ext cx="16187738" cy="2445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850" kern="0" spc="-11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Dialysis keeps people alive. We make it </a:t>
            </a:r>
            <a:r>
              <a:rPr lang="en-US" sz="5850" b="1" kern="0" spc="-117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water and carbon too </a:t>
            </a:r>
            <a:r>
              <a:rPr lang="en-US" sz="5850" kern="0" spc="-117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without ever touching the clinical circuit.</a:t>
            </a:r>
            <a:endParaRPr lang="en-US" sz="5850" dirty="0"/>
          </a:p>
        </p:txBody>
      </p:sp>
      <p:sp>
        <p:nvSpPr>
          <p:cNvPr id="10" name="Shape 8"/>
          <p:cNvSpPr/>
          <p:nvPr/>
        </p:nvSpPr>
        <p:spPr>
          <a:xfrm>
            <a:off x="1047750" y="5671443"/>
            <a:ext cx="5194300" cy="1559223"/>
          </a:xfrm>
          <a:prstGeom prst="roundRect">
            <a:avLst>
              <a:gd name="adj" fmla="val 8552"/>
            </a:avLst>
          </a:prstGeom>
          <a:solidFill>
            <a:srgbClr val="F4F8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9850" y="5925443"/>
            <a:ext cx="474840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240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39850" y="6236593"/>
            <a:ext cx="4748403" cy="454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29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m³ saved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339850" y="6709966"/>
            <a:ext cx="47484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hospital, per year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46850" y="5671443"/>
            <a:ext cx="5194300" cy="1559223"/>
          </a:xfrm>
          <a:prstGeom prst="roundRect">
            <a:avLst>
              <a:gd name="adj" fmla="val 8552"/>
            </a:avLst>
          </a:prstGeom>
          <a:solidFill>
            <a:srgbClr val="F4F8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8950" y="5925443"/>
            <a:ext cx="474840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240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38950" y="6236593"/>
            <a:ext cx="4748403" cy="454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29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yr payback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838950" y="6709966"/>
            <a:ext cx="47484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ARS-ready since July 2024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045951" y="5671443"/>
            <a:ext cx="5194300" cy="1559223"/>
          </a:xfrm>
          <a:prstGeom prst="roundRect">
            <a:avLst>
              <a:gd name="adj" fmla="val 8552"/>
            </a:avLst>
          </a:prstGeom>
          <a:solidFill>
            <a:srgbClr val="F4F8FD"/>
          </a:solidFill>
          <a:ln w="6350">
            <a:solidFill>
              <a:srgbClr val="D9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38050" y="5925443"/>
            <a:ext cx="474840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240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VALUE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38050" y="6236593"/>
            <a:ext cx="4748403" cy="454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50" b="1" kern="0" spc="-29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nephrology label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2338050" y="6709966"/>
            <a:ext cx="47484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to all hospital water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7750" y="7847013"/>
            <a:ext cx="16192500" cy="1201738"/>
          </a:xfrm>
          <a:prstGeom prst="roundRect">
            <a:avLst>
              <a:gd name="adj" fmla="val 7926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7750" y="90424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50" y="7847013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7750" y="7847013"/>
            <a:ext cx="57150" cy="1201738"/>
          </a:xfrm>
          <a:prstGeom prst="rect">
            <a:avLst/>
          </a:prstGeom>
          <a:solidFill>
            <a:srgbClr val="2E7FE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233900" y="7847013"/>
            <a:ext cx="9525" cy="1201738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27" name="Text 25"/>
          <p:cNvSpPr/>
          <p:nvPr/>
        </p:nvSpPr>
        <p:spPr>
          <a:xfrm>
            <a:off x="2793334" y="8120063"/>
            <a:ext cx="1275203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kern="0" spc="264" dirty="0">
                <a:solidFill>
                  <a:srgbClr val="2E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YOU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2793334" y="8418513"/>
            <a:ext cx="1275203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250" dirty="0">
                <a:solidFill>
                  <a:srgbClr val="0A2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3 CHU partners &amp; a letter of support to file our Agence de l'Eau grant next quarter.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047750" y="9626600"/>
            <a:ext cx="16192500" cy="31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7750" y="9626600"/>
            <a:ext cx="16192500" cy="9525"/>
          </a:xfrm>
          <a:prstGeom prst="rect">
            <a:avLst/>
          </a:prstGeom>
          <a:solidFill>
            <a:srgbClr val="D9E3EF"/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9766300"/>
            <a:ext cx="64186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EcoDialysis · ANDCS × MIT Hacking Medicine · Track 1 · Sustainable Care · Paris 2026.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752789" y="9766300"/>
            <a:ext cx="5636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6A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4838</TotalTime>
  <Words>1679</Words>
  <Application>Microsoft Office PowerPoint</Application>
  <PresentationFormat>Произвольный</PresentationFormat>
  <Paragraphs>218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-apple-system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PIMSHIN Victor</cp:lastModifiedBy>
  <cp:revision>3</cp:revision>
  <dcterms:created xsi:type="dcterms:W3CDTF">2026-04-19T08:49:48Z</dcterms:created>
  <dcterms:modified xsi:type="dcterms:W3CDTF">2026-04-22T17:28:36Z</dcterms:modified>
</cp:coreProperties>
</file>